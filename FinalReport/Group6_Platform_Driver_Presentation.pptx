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EEDB6FF-46B7-2045-F644-A7C397E35326}">
          <p14:sldIdLst>
            <p14:sldId id="256"/>
            <p14:sldId id="257"/>
          </p14:sldIdLst>
        </p14:section>
        <p14:section name="Theory" id="{81BB3450-5E9A-7910-23EB-5A3E7446CF85}">
          <p14:sldIdLst>
            <p14:sldId id="258"/>
            <p14:sldId id="259"/>
            <p14:sldId id="260"/>
          </p14:sldIdLst>
        </p14:section>
        <p14:section name="Implementation" id="{A809006F-3A29-7ECF-8092-7FE25340C455}">
          <p14:sldIdLst>
            <p14:sldId id="261"/>
            <p14:sldId id="262"/>
          </p14:sldIdLst>
        </p14:section>
        <p14:section name="Results" id="{1EC0F0E3-8F6A-5C38-D247-2AD404B0E175}">
          <p14:sldIdLst>
            <p14:sldId id="263"/>
            <p14:sldId id="264"/>
            <p14:sldId id="265"/>
            <p14:sldId id="266"/>
            <p14:sldId id="267"/>
            <p14:sldId id="268"/>
            <p14:sldId id="269"/>
          </p14:sldIdLst>
        </p14:section>
        <p14:section name="Conclusion" id="{CE5F5D2D-6101-DAEE-A5E1-8CC742D49528}">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8" d="100"/>
          <a:sy n="158" d="100"/>
        </p:scale>
        <p:origin x="14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2958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nhóm 6 và đề tài: viết ba platform driver (Timer, PWM, RTC DS1307) dùng Device Tree trên Raspberry Pi Zero W. Ảnh bên phải là phần cứng đã lắp.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driver dùng chung một mô hình: platform_driver kết hợp Device Tree overlay, build trực tiếp trên Pi.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với character driver kiểu cơ bản: init của platform driver chỉ đăng ký, mọi việc với phần cứng nằm trong probe() và chỉ chạy khi DT có node khớp. /dev/rtc0 vẫn là character device nhưng do RTC framework tạo trong probe().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Makefile chỉ build, DTS chỉ mô tả phần cứng, file C chứa code kernel gọi. Chuỗi compatible nối overlay với driver. Dòng thời gian: build, install, boot/dtoverlay, load, probe, run, remove.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không có main(). Kernel gọi probe() khi khớp DT, sau đó các callback chạy theo sự kiện (ngắt, lệnh của user), cuối cùng remove() và devm giải phóng theo thứ tự ngược.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LED qua điện trở 330 Ω ở GPIO17 và GPIO18. DS1307 cấp 5 V, I2C dùng điện trở kéo lên 3.3 V có sẵn trên Pi.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cài đặt và biên dịch: chuẩn bị OS và headers, bật I2C, chép source, make, rồi nạp tạm thời bằng dtoverlay + insmod hoặc nạp cố định bằng make install và config.txt.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đo thật trên Pi ở 1 kHz: 1039 ngắt trong khoảng 1 giây, không lỡ chu kỳ nào, độ trễ lớn nhất 31 µs. Timer hệ thống của Linux (kênh 3) không bị ảnh hưởng.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terminal cho thấy các test của timer: chu kỳ 0.5 s, đổi chu kỳ, 1 kHz, giá trị không hợp lệ bị từ chối, dừng, và gỡ/nạp lại driver.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PWM thay driver gốc bằng cách đè node &amp;pwm. Ví dụ chu kỳ 1 ms, duty 25%: RNG1 = 50000, DAT1 = 12500, CTL = 0x81; đảo cực tính thành 0x91.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RTC là chip I2C nhưng được viết theo mô hình platform driver để dùng Device Tree. probe() lấy bus I2C qua phandle, chờ bằng -EPROBE_DEFER nếu bus chưa sẵn sàng.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mất điện: đồng bộ giờ, tắt và rút điện hơn 10 phút. Khi khởi động lại, driver đọc giờ đúng với CH = 0 và kernel đặt giờ hệ thống từ RTC trước khi có mạng; sau NTP độ lệch 0 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cộng 25 test theo kế hoạch đều đạt: 7 của timer, 8 của PWM và 10 của RTC.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video demo: timer nháy LED, PWM thay đổi độ sáng, RTC giữ giờ khi mất điện. Điền link YouTube vào ô bên dưới mỗi video (hoặc chèn video trực tiếp).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và hướng phát triển của đề tài.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ý chính: Device Tree tách mô tả phần cứng khỏi code; ba driver chạy trên phần cứng thật và đạt toàn bộ test; quy trình được ghi lại để làm lại được.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 và các bạn. Link GitHub chứa source code, video demo và tài liệu (điền link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hcmute_logo.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hcmute_logo.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hcmute_logo.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D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234440"/>
            <a:ext cx="5120640" cy="137160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457200" y="2651760"/>
            <a:ext cx="5120640" cy="822960"/>
          </a:xfrm>
          <a:prstGeom prst="rect">
            <a:avLst/>
          </a:prstGeom>
          <a:noFill/>
          <a:ln/>
        </p:spPr>
        <p:txBody>
          <a:bodyPr wrap="square" rtlCol="0"/>
          <a:lstStyle>
            <a:lvl1pPr marL="0" indent="0">
              <a:buNone/>
              <a:defRPr lang="en-US" sz="1600" dirty="0">
                <a:solidFill>
                  <a:schemeClr val="accent6"/>
                </a:solidFill>
              </a:defRPr>
            </a:lvl1pPr>
          </a:lstStyle>
          <a:p>
            <a:pPr marL="0" indent="0">
              <a:buNone/>
            </a:pPr>
            <a:endParaRPr lang="en-US" sz="1600" dirty="0"/>
          </a:p>
        </p:txBody>
      </p:sp>
      <p:sp>
        <p:nvSpPr>
          <p:cNvPr id="900" name="HCMUTE logo background"/>
          <p:cNvSpPr/>
          <p:nvPr userDrawn="1"/>
        </p:nvSpPr>
        <p:spPr>
          <a:xfrm>
            <a:off x="8119872" y="137160"/>
            <a:ext cx="566928" cy="667817"/>
          </a:xfrm>
          <a:prstGeom prst="roundRect">
            <a:avLst>
              <a:gd name="adj" fmla="val 12000"/>
            </a:avLst>
          </a:prstGeom>
          <a:solidFill>
            <a:srgbClr val="FFFFFF"/>
          </a:solidFill>
          <a:ln>
            <a:noFill/>
          </a:ln>
        </p:spPr>
        <p:txBody>
          <a:bodyPr/>
          <a:lstStyle/>
          <a:p>
            <a:endParaRPr lang="en-US"/>
          </a:p>
        </p:txBody>
      </p:sp>
      <p:pic>
        <p:nvPicPr>
          <p:cNvPr id="901" name="HCMUTE logo" descr="HCMUTE logo"/>
          <p:cNvPicPr>
            <a:picLocks noChangeAspect="1"/>
          </p:cNvPicPr>
          <p:nvPr userDrawn="1"/>
        </p:nvPicPr>
        <p:blipFill>
          <a:blip r:embed="rIdLogo"/>
          <a:stretch>
            <a:fillRect/>
          </a:stretch>
        </p:blipFill>
        <p:spPr>
          <a:xfrm>
            <a:off x="8193024" y="201168"/>
            <a:ext cx="420624" cy="5398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3" name="Text 0"/>
          <p:cNvSpPr/>
          <p:nvPr/>
        </p:nvSpPr>
        <p:spPr>
          <a:xfrm>
            <a:off x="457200" y="4773168"/>
            <a:ext cx="5486400" cy="256032"/>
          </a:xfrm>
          <a:prstGeom prst="rect">
            <a:avLst/>
          </a:prstGeom>
          <a:noFill/>
          <a:ln/>
        </p:spPr>
        <p:txBody>
          <a:bodyPr wrap="square" lIns="0" tIns="0" rIns="0" bIns="0" rtlCol="0" anchor="ctr"/>
          <a:lstStyle/>
          <a:p>
            <a:pPr marL="0" indent="0">
              <a:buNone/>
            </a:pPr>
            <a:r>
              <a:rPr lang="en-US" sz="1000" dirty="0">
                <a:solidFill>
                  <a:schemeClr val="accent5"/>
                </a:solidFill>
              </a:rPr>
              <a:t>Group 6  ·  Platform drivers on the Raspberry Pi Zero W</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pic>
        <p:nvPicPr>
          <p:cNvPr id="901" name="HCMUTE logo" descr="HCMUTE logo"/>
          <p:cNvPicPr>
            <a:picLocks noChangeAspect="1"/>
          </p:cNvPicPr>
          <p:nvPr userDrawn="1"/>
        </p:nvPicPr>
        <p:blipFill>
          <a:blip r:embed="rIdLogo"/>
          <a:stretch>
            <a:fillRect/>
          </a:stretch>
        </p:blipFill>
        <p:spPr>
          <a:xfrm>
            <a:off x="8321040" y="201168"/>
            <a:ext cx="365760" cy="46939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F2D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11480"/>
            <a:ext cx="8229600" cy="73152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
        <p:nvSpPr>
          <p:cNvPr id="900" name="HCMUTE logo background"/>
          <p:cNvSpPr/>
          <p:nvPr userDrawn="1"/>
        </p:nvSpPr>
        <p:spPr>
          <a:xfrm>
            <a:off x="8119872" y="137160"/>
            <a:ext cx="566928" cy="667817"/>
          </a:xfrm>
          <a:prstGeom prst="roundRect">
            <a:avLst>
              <a:gd name="adj" fmla="val 12000"/>
            </a:avLst>
          </a:prstGeom>
          <a:solidFill>
            <a:srgbClr val="FFFFFF"/>
          </a:solidFill>
          <a:ln>
            <a:noFill/>
          </a:ln>
        </p:spPr>
        <p:txBody>
          <a:bodyPr/>
          <a:lstStyle/>
          <a:p>
            <a:endParaRPr lang="en-US"/>
          </a:p>
        </p:txBody>
      </p:sp>
      <p:pic>
        <p:nvPicPr>
          <p:cNvPr id="901" name="HCMUTE logo" descr="HCMUTE logo"/>
          <p:cNvPicPr>
            <a:picLocks noChangeAspect="1"/>
          </p:cNvPicPr>
          <p:nvPr userDrawn="1"/>
        </p:nvPicPr>
        <p:blipFill>
          <a:blip r:embed="rIdLogo"/>
          <a:stretch>
            <a:fillRect/>
          </a:stretch>
        </p:blipFill>
        <p:spPr>
          <a:xfrm>
            <a:off x="8193024" y="201168"/>
            <a:ext cx="420624" cy="539801"/>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9.jpg"/><Relationship Id="rId7" Type="http://schemas.openxmlformats.org/officeDocument/2006/relationships/hyperlink" Target="https://www.youtube.com/watch?v=Ros7_78uBJg"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1.jpg"/><Relationship Id="rId5" Type="http://schemas.openxmlformats.org/officeDocument/2006/relationships/hyperlink" Target="https://www.youtube.com/watch?v=U_tcdEtAESg" TargetMode="External"/><Relationship Id="rId4" Type="http://schemas.openxmlformats.org/officeDocument/2006/relationships/image" Target="../media/image20.png"/><Relationship Id="rId9" Type="http://schemas.openxmlformats.org/officeDocument/2006/relationships/hyperlink" Target="https://www.youtube.com/watch?v=DzwE6CQ0-n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8260" y="642271"/>
            <a:ext cx="5416760" cy="509423"/>
          </a:xfrm>
          <a:prstGeom prst="rect">
            <a:avLst/>
          </a:prstGeom>
          <a:noFill/>
          <a:ln/>
        </p:spPr>
        <p:txBody>
          <a:bodyPr wrap="square" lIns="0" tIns="0" rIns="0" bIns="0" rtlCol="0" anchor="t"/>
          <a:lstStyle/>
          <a:p>
            <a:pPr marL="0" indent="0">
              <a:buNone/>
            </a:pPr>
            <a:r>
              <a:rPr lang="en-US" sz="2000" b="1" kern="0" spc="100" dirty="0">
                <a:solidFill>
                  <a:schemeClr val="accent1"/>
                </a:solidFill>
              </a:rPr>
              <a:t>EMBEDDED SYSTEM DESIGN  ·  FINAL PROJECT</a:t>
            </a:r>
            <a:endParaRPr lang="en-US" sz="2000" dirty="0"/>
          </a:p>
        </p:txBody>
      </p:sp>
      <p:sp>
        <p:nvSpPr>
          <p:cNvPr id="3" name="Text 0"/>
          <p:cNvSpPr>
            <a:spLocks noGrp="1"/>
          </p:cNvSpPr>
          <p:nvPr>
            <p:ph type="title" idx="100" hasCustomPrompt="1"/>
          </p:nvPr>
        </p:nvSpPr>
        <p:spPr>
          <a:xfrm>
            <a:off x="457200" y="1234440"/>
            <a:ext cx="5120640" cy="1371600"/>
          </a:xfrm>
          <a:prstGeom prst="rect">
            <a:avLst/>
          </a:prstGeom>
          <a:noFill/>
          <a:ln/>
        </p:spPr>
        <p:txBody>
          <a:bodyPr wrap="square" lIns="0" tIns="0" rIns="0" bIns="0" rtlCol="0" anchor="t"/>
          <a:lstStyle/>
          <a:p>
            <a:pPr marL="0" indent="0" algn="l">
              <a:buNone/>
            </a:pPr>
            <a:r>
              <a:rPr lang="en-US" sz="3600" b="1" dirty="0">
                <a:solidFill>
                  <a:schemeClr val="bg1"/>
                </a:solidFill>
              </a:rPr>
              <a:t>Building Device Drivers on Linux</a:t>
            </a:r>
            <a:endParaRPr lang="en-US" sz="3600" dirty="0"/>
          </a:p>
        </p:txBody>
      </p:sp>
      <p:sp>
        <p:nvSpPr>
          <p:cNvPr id="4" name="Text 0"/>
          <p:cNvSpPr>
            <a:spLocks noGrp="1"/>
          </p:cNvSpPr>
          <p:nvPr>
            <p:ph type="body" idx="101" hasCustomPrompt="1"/>
          </p:nvPr>
        </p:nvSpPr>
        <p:spPr>
          <a:xfrm>
            <a:off x="457200" y="2651760"/>
            <a:ext cx="5120640" cy="822960"/>
          </a:xfrm>
          <a:prstGeom prst="rect">
            <a:avLst/>
          </a:prstGeom>
          <a:noFill/>
          <a:ln/>
        </p:spPr>
        <p:txBody>
          <a:bodyPr wrap="square" lIns="0" tIns="0" rIns="0" bIns="0" rtlCol="0" anchor="t"/>
          <a:lstStyle/>
          <a:p>
            <a:pPr marL="0" indent="0">
              <a:buNone/>
            </a:pPr>
            <a:r>
              <a:rPr lang="en-US" sz="1600" dirty="0">
                <a:solidFill>
                  <a:schemeClr val="accent6"/>
                </a:solidFill>
              </a:rPr>
              <a:t>Platform drivers with Device Tree on the Raspberry Pi Zero W: Timer, PWM and DS1307 RTC</a:t>
            </a:r>
            <a:endParaRPr lang="en-US" sz="1600" dirty="0"/>
          </a:p>
        </p:txBody>
      </p:sp>
      <p:sp>
        <p:nvSpPr>
          <p:cNvPr id="5" name="Text 3"/>
          <p:cNvSpPr txBox="1"/>
          <p:nvPr/>
        </p:nvSpPr>
        <p:spPr>
          <a:xfrm>
            <a:off x="457200" y="3703320"/>
            <a:ext cx="5303520" cy="914400"/>
          </a:xfrm>
          <a:prstGeom prst="rect">
            <a:avLst/>
          </a:prstGeom>
          <a:noFill/>
          <a:ln/>
        </p:spPr>
        <p:txBody>
          <a:bodyPr wrap="square" lIns="0" tIns="0" rIns="0" bIns="0" rtlCol="0" anchor="t"/>
          <a:lstStyle/>
          <a:p>
            <a:pPr marL="0" indent="0">
              <a:spcAft>
                <a:spcPts val="400"/>
              </a:spcAft>
              <a:buNone/>
            </a:pPr>
            <a:r>
              <a:rPr lang="en-US" sz="1400" b="1" dirty="0">
                <a:solidFill>
                  <a:schemeClr val="bg1"/>
                </a:solidFill>
              </a:rPr>
              <a:t>Group 6</a:t>
            </a:r>
            <a:endParaRPr lang="en-US" sz="1400" dirty="0"/>
          </a:p>
          <a:p>
            <a:pPr marL="0" indent="0">
              <a:spcAft>
                <a:spcPts val="400"/>
              </a:spcAft>
              <a:buNone/>
            </a:pPr>
            <a:r>
              <a:rPr lang="en-US" sz="1400" dirty="0">
                <a:solidFill>
                  <a:schemeClr val="bg1"/>
                </a:solidFill>
              </a:rPr>
              <a:t>Võ Trần Đăng Khoa  ·  Phạm Trần Huy Hoàng  ·  Huỳnh Anh Tuấn</a:t>
            </a:r>
            <a:endParaRPr lang="en-US" sz="1400" dirty="0"/>
          </a:p>
          <a:p>
            <a:pPr marL="0" indent="0">
              <a:spcAft>
                <a:spcPts val="400"/>
              </a:spcAft>
              <a:buNone/>
            </a:pPr>
            <a:r>
              <a:rPr lang="en-US" sz="1400" dirty="0">
                <a:solidFill>
                  <a:schemeClr val="accent6"/>
                </a:solidFill>
              </a:rPr>
              <a:t>Lecturer: Huỳnh Hoàng Hà</a:t>
            </a:r>
            <a:endParaRPr lang="en-US" sz="1400" dirty="0"/>
          </a:p>
        </p:txBody>
      </p:sp>
      <p:pic>
        <p:nvPicPr>
          <p:cNvPr id="6" name="Hardware photo" descr="Hardware photo"/>
          <p:cNvPicPr>
            <a:picLocks noChangeAspect="1"/>
          </p:cNvPicPr>
          <p:nvPr/>
        </p:nvPicPr>
        <p:blipFill>
          <a:blip r:embed="rId3"/>
          <a:stretch>
            <a:fillRect/>
          </a:stretch>
        </p:blipFill>
        <p:spPr>
          <a:xfrm>
            <a:off x="5989320" y="896983"/>
            <a:ext cx="2743200" cy="33266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Three drivers, one model</a:t>
            </a:r>
            <a:endParaRPr lang="en-US" sz="2800" dirty="0"/>
          </a:p>
        </p:txBody>
      </p:sp>
      <p:sp>
        <p:nvSpPr>
          <p:cNvPr id="3" name="Timer card"/>
          <p:cNvSpPr/>
          <p:nvPr/>
        </p:nvSpPr>
        <p:spPr>
          <a:xfrm>
            <a:off x="457200"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imer circle"/>
          <p:cNvSpPr/>
          <p:nvPr/>
        </p:nvSpPr>
        <p:spPr>
          <a:xfrm>
            <a:off x="685800" y="1325880"/>
            <a:ext cx="640080" cy="640080"/>
          </a:xfrm>
          <a:prstGeom prst="ellipse">
            <a:avLst/>
          </a:prstGeom>
          <a:solidFill>
            <a:schemeClr val="accent3"/>
          </a:solidFill>
          <a:ln w="12700">
            <a:solidFill>
              <a:schemeClr val="accent3"/>
            </a:solidFill>
            <a:prstDash val="solid"/>
          </a:ln>
        </p:spPr>
      </p:sp>
      <p:pic>
        <p:nvPicPr>
          <p:cNvPr id="5" name="Timer icon" descr="preencoded.png"/>
          <p:cNvPicPr>
            <a:picLocks noChangeAspect="1"/>
          </p:cNvPicPr>
          <p:nvPr/>
        </p:nvPicPr>
        <p:blipFill>
          <a:blip r:embed="rId3"/>
          <a:stretch>
            <a:fillRect/>
          </a:stretch>
        </p:blipFill>
        <p:spPr>
          <a:xfrm>
            <a:off x="845820" y="1485900"/>
            <a:ext cx="320040" cy="320040"/>
          </a:xfrm>
          <a:prstGeom prst="rect">
            <a:avLst/>
          </a:prstGeom>
        </p:spPr>
      </p:pic>
      <p:sp>
        <p:nvSpPr>
          <p:cNvPr id="6" name="Text 3"/>
          <p:cNvSpPr txBox="1"/>
          <p:nvPr/>
        </p:nvSpPr>
        <p:spPr>
          <a:xfrm>
            <a:off x="1463040"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Timer</a:t>
            </a:r>
            <a:endParaRPr lang="en-US" sz="2000" dirty="0"/>
          </a:p>
        </p:txBody>
      </p:sp>
      <p:sp>
        <p:nvSpPr>
          <p:cNvPr id="7" name="Text 4"/>
          <p:cNvSpPr txBox="1"/>
          <p:nvPr/>
        </p:nvSpPr>
        <p:spPr>
          <a:xfrm>
            <a:off x="1463040"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bcm_timer_plat</a:t>
            </a:r>
            <a:endParaRPr lang="en-US" sz="1200" dirty="0"/>
          </a:p>
        </p:txBody>
      </p:sp>
      <p:sp>
        <p:nvSpPr>
          <p:cNvPr id="8" name="Text 5"/>
          <p:cNvSpPr txBox="1"/>
          <p:nvPr/>
        </p:nvSpPr>
        <p:spPr>
          <a:xfrm>
            <a:off x="685800"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BCM2835 System Timer, compare channel 1</a:t>
            </a:r>
            <a:endParaRPr lang="en-US" sz="1400" dirty="0"/>
          </a:p>
          <a:p>
            <a:pPr marL="0" indent="0">
              <a:spcAft>
                <a:spcPts val="800"/>
              </a:spcAft>
              <a:buNone/>
            </a:pPr>
            <a:r>
              <a:rPr lang="en-US" sz="1400" dirty="0">
                <a:solidFill>
                  <a:schemeClr val="accent5"/>
                </a:solidFill>
              </a:rPr>
              <a:t>Periodic interrupt toggles an LED on GPIO17</a:t>
            </a:r>
            <a:endParaRPr lang="en-US" sz="1400" dirty="0"/>
          </a:p>
        </p:txBody>
      </p:sp>
      <p:sp>
        <p:nvSpPr>
          <p:cNvPr id="9" name="PWM card"/>
          <p:cNvSpPr/>
          <p:nvPr/>
        </p:nvSpPr>
        <p:spPr>
          <a:xfrm>
            <a:off x="3273552"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0" name="PWM circle"/>
          <p:cNvSpPr/>
          <p:nvPr/>
        </p:nvSpPr>
        <p:spPr>
          <a:xfrm>
            <a:off x="3502152" y="1325880"/>
            <a:ext cx="640080" cy="640080"/>
          </a:xfrm>
          <a:prstGeom prst="ellipse">
            <a:avLst/>
          </a:prstGeom>
          <a:solidFill>
            <a:schemeClr val="accent2"/>
          </a:solidFill>
          <a:ln w="12700">
            <a:solidFill>
              <a:schemeClr val="accent2"/>
            </a:solidFill>
            <a:prstDash val="solid"/>
          </a:ln>
        </p:spPr>
      </p:sp>
      <p:pic>
        <p:nvPicPr>
          <p:cNvPr id="11" name="PWM icon" descr="preencoded.png"/>
          <p:cNvPicPr>
            <a:picLocks noChangeAspect="1"/>
          </p:cNvPicPr>
          <p:nvPr/>
        </p:nvPicPr>
        <p:blipFill>
          <a:blip r:embed="rId4"/>
          <a:stretch>
            <a:fillRect/>
          </a:stretch>
        </p:blipFill>
        <p:spPr>
          <a:xfrm>
            <a:off x="3662172" y="1485900"/>
            <a:ext cx="320040" cy="320040"/>
          </a:xfrm>
          <a:prstGeom prst="rect">
            <a:avLst/>
          </a:prstGeom>
        </p:spPr>
      </p:pic>
      <p:sp>
        <p:nvSpPr>
          <p:cNvPr id="12" name="Text 8"/>
          <p:cNvSpPr txBox="1"/>
          <p:nvPr/>
        </p:nvSpPr>
        <p:spPr>
          <a:xfrm>
            <a:off x="4279392"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PWM</a:t>
            </a:r>
            <a:endParaRPr lang="en-US" sz="2000" dirty="0"/>
          </a:p>
        </p:txBody>
      </p:sp>
      <p:sp>
        <p:nvSpPr>
          <p:cNvPr id="13" name="Text 9"/>
          <p:cNvSpPr txBox="1"/>
          <p:nvPr/>
        </p:nvSpPr>
        <p:spPr>
          <a:xfrm>
            <a:off x="4279392"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bcm_pwm_plat</a:t>
            </a:r>
            <a:endParaRPr lang="en-US" sz="1200" dirty="0"/>
          </a:p>
        </p:txBody>
      </p:sp>
      <p:sp>
        <p:nvSpPr>
          <p:cNvPr id="14" name="Text 10"/>
          <p:cNvSpPr txBox="1"/>
          <p:nvPr/>
        </p:nvSpPr>
        <p:spPr>
          <a:xfrm>
            <a:off x="3502152"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BCM2835 PWM block, replaces pwm-bcm2835</a:t>
            </a:r>
            <a:endParaRPr lang="en-US" sz="1400" dirty="0"/>
          </a:p>
          <a:p>
            <a:pPr marL="0" indent="0">
              <a:spcAft>
                <a:spcPts val="800"/>
              </a:spcAft>
              <a:buNone/>
            </a:pPr>
            <a:r>
              <a:rPr lang="en-US" sz="1400" dirty="0">
                <a:solidFill>
                  <a:schemeClr val="accent5"/>
                </a:solidFill>
              </a:rPr>
              <a:t>Duty cycle sets LED brightness on GPIO18</a:t>
            </a:r>
            <a:endParaRPr lang="en-US" sz="1400" dirty="0"/>
          </a:p>
        </p:txBody>
      </p:sp>
      <p:sp>
        <p:nvSpPr>
          <p:cNvPr id="15" name="RTC card"/>
          <p:cNvSpPr/>
          <p:nvPr/>
        </p:nvSpPr>
        <p:spPr>
          <a:xfrm>
            <a:off x="6089904"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6" name="RTC circle"/>
          <p:cNvSpPr/>
          <p:nvPr/>
        </p:nvSpPr>
        <p:spPr>
          <a:xfrm>
            <a:off x="6318504" y="1325880"/>
            <a:ext cx="640080" cy="640080"/>
          </a:xfrm>
          <a:prstGeom prst="ellipse">
            <a:avLst/>
          </a:prstGeom>
          <a:solidFill>
            <a:schemeClr val="accent1"/>
          </a:solidFill>
          <a:ln w="12700">
            <a:solidFill>
              <a:schemeClr val="accent1"/>
            </a:solidFill>
            <a:prstDash val="solid"/>
          </a:ln>
        </p:spPr>
      </p:sp>
      <p:pic>
        <p:nvPicPr>
          <p:cNvPr id="17" name="RTC icon" descr="preencoded.png"/>
          <p:cNvPicPr>
            <a:picLocks noChangeAspect="1"/>
          </p:cNvPicPr>
          <p:nvPr/>
        </p:nvPicPr>
        <p:blipFill>
          <a:blip r:embed="rId5"/>
          <a:stretch>
            <a:fillRect/>
          </a:stretch>
        </p:blipFill>
        <p:spPr>
          <a:xfrm>
            <a:off x="6478524" y="1485900"/>
            <a:ext cx="320040" cy="320040"/>
          </a:xfrm>
          <a:prstGeom prst="rect">
            <a:avLst/>
          </a:prstGeom>
        </p:spPr>
      </p:pic>
      <p:sp>
        <p:nvSpPr>
          <p:cNvPr id="18" name="Text 13"/>
          <p:cNvSpPr txBox="1"/>
          <p:nvPr/>
        </p:nvSpPr>
        <p:spPr>
          <a:xfrm>
            <a:off x="7095744"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RTC</a:t>
            </a:r>
            <a:endParaRPr lang="en-US" sz="2000" dirty="0"/>
          </a:p>
        </p:txBody>
      </p:sp>
      <p:sp>
        <p:nvSpPr>
          <p:cNvPr id="19" name="Text 14"/>
          <p:cNvSpPr txBox="1"/>
          <p:nvPr/>
        </p:nvSpPr>
        <p:spPr>
          <a:xfrm>
            <a:off x="7095744"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ds1307_plat</a:t>
            </a:r>
            <a:endParaRPr lang="en-US" sz="1200" dirty="0"/>
          </a:p>
        </p:txBody>
      </p:sp>
      <p:sp>
        <p:nvSpPr>
          <p:cNvPr id="20" name="Text 15"/>
          <p:cNvSpPr txBox="1"/>
          <p:nvPr/>
        </p:nvSpPr>
        <p:spPr>
          <a:xfrm>
            <a:off x="6318504"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DS1307 on I2C1 with a CR2032 cell</a:t>
            </a:r>
            <a:endParaRPr lang="en-US" sz="1400" dirty="0"/>
          </a:p>
          <a:p>
            <a:pPr marL="0" indent="0">
              <a:spcAft>
                <a:spcPts val="800"/>
              </a:spcAft>
              <a:buNone/>
            </a:pPr>
            <a:r>
              <a:rPr lang="en-US" sz="1400" dirty="0">
                <a:solidFill>
                  <a:schemeClr val="accent5"/>
                </a:solidFill>
              </a:rPr>
              <a:t>Keeps time through power loss, /dev/rtc0</a:t>
            </a:r>
            <a:endParaRPr lang="en-US" sz="1400" dirty="0"/>
          </a:p>
        </p:txBody>
      </p:sp>
      <p:sp>
        <p:nvSpPr>
          <p:cNvPr id="21" name="Text 16"/>
          <p:cNvSpPr txBox="1"/>
          <p:nvPr/>
        </p:nvSpPr>
        <p:spPr>
          <a:xfrm>
            <a:off x="457200" y="4023360"/>
            <a:ext cx="8229600" cy="457200"/>
          </a:xfrm>
          <a:prstGeom prst="rect">
            <a:avLst/>
          </a:prstGeom>
          <a:noFill/>
          <a:ln/>
        </p:spPr>
        <p:txBody>
          <a:bodyPr wrap="square" lIns="0" tIns="0" rIns="0" bIns="0" rtlCol="0" anchor="ctr"/>
          <a:lstStyle/>
          <a:p>
            <a:pPr marL="0" indent="0">
              <a:buNone/>
            </a:pPr>
            <a:r>
              <a:rPr lang="en-US" sz="1400" b="1" dirty="0">
                <a:solidFill>
                  <a:schemeClr val="tx1"/>
                </a:solidFill>
              </a:rPr>
              <a:t>Common to all three: </a:t>
            </a:r>
            <a:r>
              <a:rPr lang="en-US" sz="1400" dirty="0">
                <a:solidFill>
                  <a:schemeClr val="tx1"/>
                </a:solidFill>
              </a:rPr>
              <a:t>platform_driver + Device Tree overlay, built natively against kernel 6.18.50+rpt-rpi-v6</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Why a platform driver with Device Tree</a:t>
            </a:r>
            <a:endParaRPr lang="en-US" sz="2800" dirty="0"/>
          </a:p>
        </p:txBody>
      </p:sp>
      <p:sp>
        <p:nvSpPr>
          <p:cNvPr id="3" name="adv0 circle"/>
          <p:cNvSpPr/>
          <p:nvPr/>
        </p:nvSpPr>
        <p:spPr>
          <a:xfrm>
            <a:off x="457200" y="1143000"/>
            <a:ext cx="566928" cy="566928"/>
          </a:xfrm>
          <a:prstGeom prst="ellipse">
            <a:avLst/>
          </a:prstGeom>
          <a:solidFill>
            <a:schemeClr val="accent3"/>
          </a:solidFill>
          <a:ln w="12700">
            <a:solidFill>
              <a:schemeClr val="accent3"/>
            </a:solidFill>
            <a:prstDash val="solid"/>
          </a:ln>
        </p:spPr>
      </p:sp>
      <p:pic>
        <p:nvPicPr>
          <p:cNvPr id="4" name="adv0 icon" descr="preencoded.png"/>
          <p:cNvPicPr>
            <a:picLocks noChangeAspect="1"/>
          </p:cNvPicPr>
          <p:nvPr/>
        </p:nvPicPr>
        <p:blipFill>
          <a:blip r:embed="rId3"/>
          <a:stretch>
            <a:fillRect/>
          </a:stretch>
        </p:blipFill>
        <p:spPr>
          <a:xfrm>
            <a:off x="598932" y="1284732"/>
            <a:ext cx="283464" cy="283464"/>
          </a:xfrm>
          <a:prstGeom prst="rect">
            <a:avLst/>
          </a:prstGeom>
        </p:spPr>
      </p:pic>
      <p:sp>
        <p:nvSpPr>
          <p:cNvPr id="5" name="Text 2"/>
          <p:cNvSpPr txBox="1"/>
          <p:nvPr/>
        </p:nvSpPr>
        <p:spPr>
          <a:xfrm>
            <a:off x="1188720" y="1124712"/>
            <a:ext cx="3566160" cy="292608"/>
          </a:xfrm>
          <a:prstGeom prst="rect">
            <a:avLst/>
          </a:prstGeom>
          <a:noFill/>
          <a:ln/>
        </p:spPr>
        <p:txBody>
          <a:bodyPr wrap="square" lIns="0" tIns="0" rIns="0" bIns="0" rtlCol="0" anchor="t"/>
          <a:lstStyle/>
          <a:p>
            <a:pPr marL="0" indent="0">
              <a:buNone/>
            </a:pPr>
            <a:r>
              <a:rPr lang="en-US" sz="1500" b="1" dirty="0">
                <a:solidFill>
                  <a:schemeClr val="tx2"/>
                </a:solidFill>
              </a:rPr>
              <a:t>Hardware described, not hard-coded</a:t>
            </a:r>
            <a:endParaRPr lang="en-US" sz="1500" dirty="0"/>
          </a:p>
        </p:txBody>
      </p:sp>
      <p:sp>
        <p:nvSpPr>
          <p:cNvPr id="6" name="Text 3"/>
          <p:cNvSpPr txBox="1"/>
          <p:nvPr/>
        </p:nvSpPr>
        <p:spPr>
          <a:xfrm>
            <a:off x="1188720" y="1417320"/>
            <a:ext cx="3566160" cy="457200"/>
          </a:xfrm>
          <a:prstGeom prst="rect">
            <a:avLst/>
          </a:prstGeom>
          <a:noFill/>
          <a:ln/>
        </p:spPr>
        <p:txBody>
          <a:bodyPr wrap="square" lIns="0" tIns="0" rIns="0" bIns="0" rtlCol="0" anchor="t"/>
          <a:lstStyle/>
          <a:p>
            <a:pPr marL="0" indent="0">
              <a:buNone/>
            </a:pPr>
            <a:r>
              <a:rPr lang="en-US" sz="1300" dirty="0">
                <a:solidFill>
                  <a:schemeClr val="accent5"/>
                </a:solidFill>
              </a:rPr>
              <a:t>Address, IRQ, clock and pins come from the overlay</a:t>
            </a:r>
            <a:endParaRPr lang="en-US" sz="1300" dirty="0"/>
          </a:p>
        </p:txBody>
      </p:sp>
      <p:sp>
        <p:nvSpPr>
          <p:cNvPr id="7" name="adv1 circle"/>
          <p:cNvSpPr/>
          <p:nvPr/>
        </p:nvSpPr>
        <p:spPr>
          <a:xfrm>
            <a:off x="457200" y="1993392"/>
            <a:ext cx="566928" cy="566928"/>
          </a:xfrm>
          <a:prstGeom prst="ellipse">
            <a:avLst/>
          </a:prstGeom>
          <a:solidFill>
            <a:schemeClr val="accent3"/>
          </a:solidFill>
          <a:ln w="12700">
            <a:solidFill>
              <a:schemeClr val="accent3"/>
            </a:solidFill>
            <a:prstDash val="solid"/>
          </a:ln>
        </p:spPr>
      </p:sp>
      <p:pic>
        <p:nvPicPr>
          <p:cNvPr id="8" name="adv1 icon" descr="preencoded.png"/>
          <p:cNvPicPr>
            <a:picLocks noChangeAspect="1"/>
          </p:cNvPicPr>
          <p:nvPr/>
        </p:nvPicPr>
        <p:blipFill>
          <a:blip r:embed="rId4"/>
          <a:stretch>
            <a:fillRect/>
          </a:stretch>
        </p:blipFill>
        <p:spPr>
          <a:xfrm>
            <a:off x="598932" y="2135124"/>
            <a:ext cx="283464" cy="283464"/>
          </a:xfrm>
          <a:prstGeom prst="rect">
            <a:avLst/>
          </a:prstGeom>
        </p:spPr>
      </p:pic>
      <p:sp>
        <p:nvSpPr>
          <p:cNvPr id="9" name="Text 5"/>
          <p:cNvSpPr txBox="1"/>
          <p:nvPr/>
        </p:nvSpPr>
        <p:spPr>
          <a:xfrm>
            <a:off x="1188720" y="1975104"/>
            <a:ext cx="3566160" cy="292608"/>
          </a:xfrm>
          <a:prstGeom prst="rect">
            <a:avLst/>
          </a:prstGeom>
          <a:noFill/>
          <a:ln/>
        </p:spPr>
        <p:txBody>
          <a:bodyPr wrap="square" lIns="0" tIns="0" rIns="0" bIns="0" rtlCol="0" anchor="t"/>
          <a:lstStyle/>
          <a:p>
            <a:pPr marL="0" indent="0">
              <a:buNone/>
            </a:pPr>
            <a:r>
              <a:rPr lang="en-US" sz="1500" b="1" dirty="0">
                <a:solidFill>
                  <a:schemeClr val="tx2"/>
                </a:solidFill>
              </a:rPr>
              <a:t>Automatic binding</a:t>
            </a:r>
            <a:endParaRPr lang="en-US" sz="1500" dirty="0"/>
          </a:p>
        </p:txBody>
      </p:sp>
      <p:sp>
        <p:nvSpPr>
          <p:cNvPr id="10" name="Text 6"/>
          <p:cNvSpPr txBox="1"/>
          <p:nvPr/>
        </p:nvSpPr>
        <p:spPr>
          <a:xfrm>
            <a:off x="1188720" y="2267712"/>
            <a:ext cx="3566160" cy="457200"/>
          </a:xfrm>
          <a:prstGeom prst="rect">
            <a:avLst/>
          </a:prstGeom>
          <a:noFill/>
          <a:ln/>
        </p:spPr>
        <p:txBody>
          <a:bodyPr wrap="square" lIns="0" tIns="0" rIns="0" bIns="0" rtlCol="0" anchor="t"/>
          <a:lstStyle/>
          <a:p>
            <a:pPr marL="0" indent="0">
              <a:buNone/>
            </a:pPr>
            <a:r>
              <a:rPr lang="en-US" sz="1300" dirty="0">
                <a:solidFill>
                  <a:schemeClr val="accent5"/>
                </a:solidFill>
              </a:rPr>
              <a:t>probe()/remove() run when a matching DT node appears or goes</a:t>
            </a:r>
            <a:endParaRPr lang="en-US" sz="1300" dirty="0"/>
          </a:p>
        </p:txBody>
      </p:sp>
      <p:sp>
        <p:nvSpPr>
          <p:cNvPr id="11" name="adv2 circle"/>
          <p:cNvSpPr/>
          <p:nvPr/>
        </p:nvSpPr>
        <p:spPr>
          <a:xfrm>
            <a:off x="457200" y="2843784"/>
            <a:ext cx="566928" cy="566928"/>
          </a:xfrm>
          <a:prstGeom prst="ellipse">
            <a:avLst/>
          </a:prstGeom>
          <a:solidFill>
            <a:schemeClr val="accent3"/>
          </a:solidFill>
          <a:ln w="12700">
            <a:solidFill>
              <a:schemeClr val="accent3"/>
            </a:solidFill>
            <a:prstDash val="solid"/>
          </a:ln>
        </p:spPr>
      </p:sp>
      <p:pic>
        <p:nvPicPr>
          <p:cNvPr id="12" name="adv2 icon" descr="preencoded.png"/>
          <p:cNvPicPr>
            <a:picLocks noChangeAspect="1"/>
          </p:cNvPicPr>
          <p:nvPr/>
        </p:nvPicPr>
        <p:blipFill>
          <a:blip r:embed="rId5"/>
          <a:stretch>
            <a:fillRect/>
          </a:stretch>
        </p:blipFill>
        <p:spPr>
          <a:xfrm>
            <a:off x="598932" y="2985516"/>
            <a:ext cx="283464" cy="283464"/>
          </a:xfrm>
          <a:prstGeom prst="rect">
            <a:avLst/>
          </a:prstGeom>
        </p:spPr>
      </p:pic>
      <p:sp>
        <p:nvSpPr>
          <p:cNvPr id="13" name="Text 8"/>
          <p:cNvSpPr txBox="1"/>
          <p:nvPr/>
        </p:nvSpPr>
        <p:spPr>
          <a:xfrm>
            <a:off x="1188720" y="2825496"/>
            <a:ext cx="3566160" cy="292608"/>
          </a:xfrm>
          <a:prstGeom prst="rect">
            <a:avLst/>
          </a:prstGeom>
          <a:noFill/>
          <a:ln/>
        </p:spPr>
        <p:txBody>
          <a:bodyPr wrap="square" lIns="0" tIns="0" rIns="0" bIns="0" rtlCol="0" anchor="t"/>
          <a:lstStyle/>
          <a:p>
            <a:pPr marL="0" indent="0">
              <a:buNone/>
            </a:pPr>
            <a:r>
              <a:rPr lang="en-US" sz="1500" b="1" dirty="0">
                <a:solidFill>
                  <a:schemeClr val="tx2"/>
                </a:solidFill>
              </a:rPr>
              <a:t>Safe resources</a:t>
            </a:r>
            <a:endParaRPr lang="en-US" sz="1500" dirty="0"/>
          </a:p>
        </p:txBody>
      </p:sp>
      <p:sp>
        <p:nvSpPr>
          <p:cNvPr id="14" name="Text 9"/>
          <p:cNvSpPr txBox="1"/>
          <p:nvPr/>
        </p:nvSpPr>
        <p:spPr>
          <a:xfrm>
            <a:off x="1188720" y="3118104"/>
            <a:ext cx="3566160" cy="457200"/>
          </a:xfrm>
          <a:prstGeom prst="rect">
            <a:avLst/>
          </a:prstGeom>
          <a:noFill/>
          <a:ln/>
        </p:spPr>
        <p:txBody>
          <a:bodyPr wrap="square" lIns="0" tIns="0" rIns="0" bIns="0" rtlCol="0" anchor="t"/>
          <a:lstStyle/>
          <a:p>
            <a:pPr marL="0" indent="0">
              <a:buNone/>
            </a:pPr>
            <a:r>
              <a:rPr lang="en-US" sz="1300" dirty="0">
                <a:solidFill>
                  <a:schemeClr val="accent5"/>
                </a:solidFill>
              </a:rPr>
              <a:t>devm_* releases everything in reverse order, even on errors</a:t>
            </a:r>
            <a:endParaRPr lang="en-US" sz="1300" dirty="0"/>
          </a:p>
        </p:txBody>
      </p:sp>
      <p:sp>
        <p:nvSpPr>
          <p:cNvPr id="15" name="adv3 circle"/>
          <p:cNvSpPr/>
          <p:nvPr/>
        </p:nvSpPr>
        <p:spPr>
          <a:xfrm>
            <a:off x="457200" y="3694176"/>
            <a:ext cx="566928" cy="566928"/>
          </a:xfrm>
          <a:prstGeom prst="ellipse">
            <a:avLst/>
          </a:prstGeom>
          <a:solidFill>
            <a:schemeClr val="accent3"/>
          </a:solidFill>
          <a:ln w="12700">
            <a:solidFill>
              <a:schemeClr val="accent3"/>
            </a:solidFill>
            <a:prstDash val="solid"/>
          </a:ln>
        </p:spPr>
      </p:sp>
      <p:pic>
        <p:nvPicPr>
          <p:cNvPr id="16" name="adv3 icon" descr="preencoded.png"/>
          <p:cNvPicPr>
            <a:picLocks noChangeAspect="1"/>
          </p:cNvPicPr>
          <p:nvPr/>
        </p:nvPicPr>
        <p:blipFill>
          <a:blip r:embed="rId6"/>
          <a:stretch>
            <a:fillRect/>
          </a:stretch>
        </p:blipFill>
        <p:spPr>
          <a:xfrm>
            <a:off x="598932" y="3835908"/>
            <a:ext cx="283464" cy="283464"/>
          </a:xfrm>
          <a:prstGeom prst="rect">
            <a:avLst/>
          </a:prstGeom>
        </p:spPr>
      </p:pic>
      <p:sp>
        <p:nvSpPr>
          <p:cNvPr id="17" name="Text 11"/>
          <p:cNvSpPr txBox="1"/>
          <p:nvPr/>
        </p:nvSpPr>
        <p:spPr>
          <a:xfrm>
            <a:off x="1188720" y="3675888"/>
            <a:ext cx="3566160" cy="292608"/>
          </a:xfrm>
          <a:prstGeom prst="rect">
            <a:avLst/>
          </a:prstGeom>
          <a:noFill/>
          <a:ln/>
        </p:spPr>
        <p:txBody>
          <a:bodyPr wrap="square" lIns="0" tIns="0" rIns="0" bIns="0" rtlCol="0" anchor="t"/>
          <a:lstStyle/>
          <a:p>
            <a:pPr marL="0" indent="0">
              <a:buNone/>
            </a:pPr>
            <a:r>
              <a:rPr lang="en-US" sz="1500" b="1" dirty="0">
                <a:solidFill>
                  <a:schemeClr val="tx2"/>
                </a:solidFill>
              </a:rPr>
              <a:t>Reuse of kernel frameworks</a:t>
            </a:r>
            <a:endParaRPr lang="en-US" sz="1500" dirty="0"/>
          </a:p>
        </p:txBody>
      </p:sp>
      <p:sp>
        <p:nvSpPr>
          <p:cNvPr id="18" name="Text 12"/>
          <p:cNvSpPr txBox="1"/>
          <p:nvPr/>
        </p:nvSpPr>
        <p:spPr>
          <a:xfrm>
            <a:off x="1188720" y="3968496"/>
            <a:ext cx="3566160" cy="457200"/>
          </a:xfrm>
          <a:prstGeom prst="rect">
            <a:avLst/>
          </a:prstGeom>
          <a:noFill/>
          <a:ln/>
        </p:spPr>
        <p:txBody>
          <a:bodyPr wrap="square" lIns="0" tIns="0" rIns="0" bIns="0" rtlCol="0" anchor="t"/>
          <a:lstStyle/>
          <a:p>
            <a:pPr marL="0" indent="0">
              <a:buNone/>
            </a:pPr>
            <a:r>
              <a:rPr lang="en-US" sz="1300" dirty="0">
                <a:solidFill>
                  <a:schemeClr val="accent5"/>
                </a:solidFill>
              </a:rPr>
              <a:t>RTC and PWM frameworks give hwclock and /sys/class/pwm</a:t>
            </a:r>
            <a:endParaRPr lang="en-US" sz="1300" dirty="0"/>
          </a:p>
        </p:txBody>
      </p:sp>
      <p:sp>
        <p:nvSpPr>
          <p:cNvPr id="19" name="char driver card"/>
          <p:cNvSpPr/>
          <p:nvPr/>
        </p:nvSpPr>
        <p:spPr>
          <a:xfrm>
            <a:off x="5029200" y="1143000"/>
            <a:ext cx="3657600" cy="1554480"/>
          </a:xfrm>
          <a:prstGeom prst="roundRect">
            <a:avLst>
              <a:gd name="adj" fmla="val 4706"/>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20" name="Text 14"/>
          <p:cNvSpPr txBox="1"/>
          <p:nvPr/>
        </p:nvSpPr>
        <p:spPr>
          <a:xfrm>
            <a:off x="5212080" y="1143000"/>
            <a:ext cx="3291840" cy="1554480"/>
          </a:xfrm>
          <a:prstGeom prst="rect">
            <a:avLst/>
          </a:prstGeom>
          <a:noFill/>
          <a:ln/>
        </p:spPr>
        <p:txBody>
          <a:bodyPr wrap="square" lIns="0" tIns="0" rIns="0" bIns="0" rtlCol="0" anchor="ctr"/>
          <a:lstStyle/>
          <a:p>
            <a:pPr marL="0" indent="0">
              <a:spcAft>
                <a:spcPts val="600"/>
              </a:spcAft>
              <a:buNone/>
            </a:pPr>
            <a:r>
              <a:rPr lang="en-US" sz="1300" b="1" dirty="0">
                <a:solidFill>
                  <a:schemeClr val="accent1"/>
                </a:solidFill>
              </a:rPr>
              <a:t>Basic character driver</a:t>
            </a:r>
            <a:endParaRPr lang="en-US" sz="1300" dirty="0"/>
          </a:p>
          <a:p>
            <a:pPr marL="0" indent="0">
              <a:spcAft>
                <a:spcPts val="600"/>
              </a:spcAft>
              <a:buNone/>
            </a:pPr>
            <a:r>
              <a:rPr lang="en-US" sz="1300" dirty="0">
                <a:solidFill>
                  <a:schemeClr val="tx1"/>
                </a:solidFill>
              </a:rPr>
              <a:t>init() hard-codes the address and IRQ and touches the registers as soon as insmod runs, even if the hardware is absent</a:t>
            </a:r>
            <a:endParaRPr lang="en-US" sz="1300" dirty="0"/>
          </a:p>
        </p:txBody>
      </p:sp>
      <p:sp>
        <p:nvSpPr>
          <p:cNvPr id="21" name="platform driver card"/>
          <p:cNvSpPr/>
          <p:nvPr/>
        </p:nvSpPr>
        <p:spPr>
          <a:xfrm>
            <a:off x="5029200" y="2880360"/>
            <a:ext cx="3657600" cy="1600200"/>
          </a:xfrm>
          <a:prstGeom prst="roundRect">
            <a:avLst>
              <a:gd name="adj" fmla="val 4571"/>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22" name="Text 16"/>
          <p:cNvSpPr txBox="1"/>
          <p:nvPr/>
        </p:nvSpPr>
        <p:spPr>
          <a:xfrm>
            <a:off x="5212080" y="2880360"/>
            <a:ext cx="3291840" cy="1600200"/>
          </a:xfrm>
          <a:prstGeom prst="rect">
            <a:avLst/>
          </a:prstGeom>
          <a:noFill/>
          <a:ln/>
        </p:spPr>
        <p:txBody>
          <a:bodyPr wrap="square" lIns="0" tIns="0" rIns="0" bIns="0" rtlCol="0" anchor="ctr"/>
          <a:lstStyle/>
          <a:p>
            <a:pPr marL="0" indent="0">
              <a:spcAft>
                <a:spcPts val="600"/>
              </a:spcAft>
              <a:buNone/>
            </a:pPr>
            <a:r>
              <a:rPr lang="en-US" sz="1300" b="1" dirty="0">
                <a:solidFill>
                  <a:schemeClr val="accent2"/>
                </a:solidFill>
              </a:rPr>
              <a:t>Platform driver</a:t>
            </a:r>
            <a:endParaRPr lang="en-US" sz="1300" dirty="0"/>
          </a:p>
          <a:p>
            <a:pPr marL="0" indent="0">
              <a:spcAft>
                <a:spcPts val="600"/>
              </a:spcAft>
              <a:buNone/>
            </a:pPr>
            <a:r>
              <a:rPr lang="en-US" sz="1300" dirty="0">
                <a:solidFill>
                  <a:schemeClr val="tx1"/>
                </a:solidFill>
              </a:rPr>
              <a:t>init() only registers the driver; probe() runs when the Device Tree contains a matching node and passes its resources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How the Makefile, overlay and C file meet</a:t>
            </a:r>
            <a:endParaRPr lang="en-US" sz="2800" dirty="0"/>
          </a:p>
        </p:txBody>
      </p:sp>
      <p:sp>
        <p:nvSpPr>
          <p:cNvPr id="3" name="Makefile card"/>
          <p:cNvSpPr/>
          <p:nvPr/>
        </p:nvSpPr>
        <p:spPr>
          <a:xfrm>
            <a:off x="457200"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ext 2"/>
          <p:cNvSpPr txBox="1"/>
          <p:nvPr/>
        </p:nvSpPr>
        <p:spPr>
          <a:xfrm>
            <a:off x="640080" y="1207008"/>
            <a:ext cx="2240280" cy="320040"/>
          </a:xfrm>
          <a:prstGeom prst="rect">
            <a:avLst/>
          </a:prstGeom>
          <a:noFill/>
          <a:ln/>
        </p:spPr>
        <p:txBody>
          <a:bodyPr wrap="square" lIns="0" tIns="0" rIns="0" bIns="0" rtlCol="0" anchor="t"/>
          <a:lstStyle/>
          <a:p>
            <a:pPr marL="0" indent="0">
              <a:buNone/>
            </a:pPr>
            <a:r>
              <a:rPr lang="en-US" sz="1600" b="1" dirty="0">
                <a:solidFill>
                  <a:schemeClr val="accent5"/>
                </a:solidFill>
                <a:latin typeface="Courier New" pitchFamily="34" charset="0"/>
                <a:ea typeface="Courier New" pitchFamily="34" charset="-122"/>
                <a:cs typeface="Courier New" pitchFamily="34" charset="-120"/>
              </a:rPr>
              <a:t>Makefile</a:t>
            </a:r>
            <a:endParaRPr lang="en-US" sz="1600" dirty="0"/>
          </a:p>
        </p:txBody>
      </p:sp>
      <p:sp>
        <p:nvSpPr>
          <p:cNvPr id="5" name="Text 3"/>
          <p:cNvSpPr txBox="1"/>
          <p:nvPr/>
        </p:nvSpPr>
        <p:spPr>
          <a:xfrm>
            <a:off x="640080"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make + Kbuild</a:t>
            </a:r>
            <a:endParaRPr lang="en-US" sz="1200" dirty="0"/>
          </a:p>
        </p:txBody>
      </p:sp>
      <p:sp>
        <p:nvSpPr>
          <p:cNvPr id="6" name="Text 4"/>
          <p:cNvSpPr txBox="1"/>
          <p:nvPr/>
        </p:nvSpPr>
        <p:spPr>
          <a:xfrm>
            <a:off x="640080"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Builds .ko and .dtbo against the running kernel; installs them</a:t>
            </a:r>
            <a:endParaRPr lang="en-US" sz="1300" dirty="0"/>
          </a:p>
        </p:txBody>
      </p:sp>
      <p:sp>
        <p:nvSpPr>
          <p:cNvPr id="7" name="*-overlay.dts card"/>
          <p:cNvSpPr/>
          <p:nvPr/>
        </p:nvSpPr>
        <p:spPr>
          <a:xfrm>
            <a:off x="3273552"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8" name="Text 6"/>
          <p:cNvSpPr txBox="1"/>
          <p:nvPr/>
        </p:nvSpPr>
        <p:spPr>
          <a:xfrm>
            <a:off x="3456432" y="1207008"/>
            <a:ext cx="2240280" cy="320040"/>
          </a:xfrm>
          <a:prstGeom prst="rect">
            <a:avLst/>
          </a:prstGeom>
          <a:noFill/>
          <a:ln/>
        </p:spPr>
        <p:txBody>
          <a:bodyPr wrap="square" lIns="0" tIns="0" rIns="0" bIns="0" rtlCol="0" anchor="t"/>
          <a:lstStyle/>
          <a:p>
            <a:pPr marL="0" indent="0">
              <a:buNone/>
            </a:pPr>
            <a:r>
              <a:rPr lang="en-US" sz="1600" b="1" dirty="0">
                <a:solidFill>
                  <a:schemeClr val="accent3"/>
                </a:solidFill>
                <a:latin typeface="Courier New" pitchFamily="34" charset="0"/>
                <a:ea typeface="Courier New" pitchFamily="34" charset="-122"/>
                <a:cs typeface="Courier New" pitchFamily="34" charset="-120"/>
              </a:rPr>
              <a:t>*-overlay.dts</a:t>
            </a:r>
            <a:endParaRPr lang="en-US" sz="1600" dirty="0"/>
          </a:p>
        </p:txBody>
      </p:sp>
      <p:sp>
        <p:nvSpPr>
          <p:cNvPr id="9" name="Text 7"/>
          <p:cNvSpPr txBox="1"/>
          <p:nvPr/>
        </p:nvSpPr>
        <p:spPr>
          <a:xfrm>
            <a:off x="3456432"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dtc -@ → .dtbo</a:t>
            </a:r>
            <a:endParaRPr lang="en-US" sz="1200" dirty="0"/>
          </a:p>
        </p:txBody>
      </p:sp>
      <p:sp>
        <p:nvSpPr>
          <p:cNvPr id="10" name="Text 8"/>
          <p:cNvSpPr txBox="1"/>
          <p:nvPr/>
        </p:nvSpPr>
        <p:spPr>
          <a:xfrm>
            <a:off x="3456432"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Adds or changes DT nodes; the kernel makes a platform_device</a:t>
            </a:r>
            <a:endParaRPr lang="en-US" sz="1300" dirty="0"/>
          </a:p>
        </p:txBody>
      </p:sp>
      <p:sp>
        <p:nvSpPr>
          <p:cNvPr id="11" name="driver.c card"/>
          <p:cNvSpPr/>
          <p:nvPr/>
        </p:nvSpPr>
        <p:spPr>
          <a:xfrm>
            <a:off x="6089904"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2" name="Text 10"/>
          <p:cNvSpPr txBox="1"/>
          <p:nvPr/>
        </p:nvSpPr>
        <p:spPr>
          <a:xfrm>
            <a:off x="6272784" y="1207008"/>
            <a:ext cx="2240280" cy="320040"/>
          </a:xfrm>
          <a:prstGeom prst="rect">
            <a:avLst/>
          </a:prstGeom>
          <a:noFill/>
          <a:ln/>
        </p:spPr>
        <p:txBody>
          <a:bodyPr wrap="square" lIns="0" tIns="0" rIns="0" bIns="0" rtlCol="0" anchor="t"/>
          <a:lstStyle/>
          <a:p>
            <a:pPr marL="0" indent="0">
              <a:buNone/>
            </a:pPr>
            <a:r>
              <a:rPr lang="en-US" sz="1600" b="1" dirty="0">
                <a:solidFill>
                  <a:schemeClr val="accent1"/>
                </a:solidFill>
                <a:latin typeface="Courier New" pitchFamily="34" charset="0"/>
                <a:ea typeface="Courier New" pitchFamily="34" charset="-122"/>
                <a:cs typeface="Courier New" pitchFamily="34" charset="-120"/>
              </a:rPr>
              <a:t>driver.c</a:t>
            </a:r>
            <a:endParaRPr lang="en-US" sz="1600" dirty="0"/>
          </a:p>
        </p:txBody>
      </p:sp>
      <p:sp>
        <p:nvSpPr>
          <p:cNvPr id="13" name="Text 11"/>
          <p:cNvSpPr txBox="1"/>
          <p:nvPr/>
        </p:nvSpPr>
        <p:spPr>
          <a:xfrm>
            <a:off x="6272784"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gcc via Kbuild → .ko</a:t>
            </a:r>
            <a:endParaRPr lang="en-US" sz="1200" dirty="0"/>
          </a:p>
        </p:txBody>
      </p:sp>
      <p:sp>
        <p:nvSpPr>
          <p:cNvPr id="14" name="Text 12"/>
          <p:cNvSpPr txBox="1"/>
          <p:nvPr/>
        </p:nvSpPr>
        <p:spPr>
          <a:xfrm>
            <a:off x="6272784"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Registers platform_driver; probe(), callbacks, remove()</a:t>
            </a:r>
            <a:endParaRPr lang="en-US" sz="1300" dirty="0"/>
          </a:p>
        </p:txBody>
      </p:sp>
      <p:sp>
        <p:nvSpPr>
          <p:cNvPr id="15" name="compatible contract"/>
          <p:cNvSpPr/>
          <p:nvPr/>
        </p:nvSpPr>
        <p:spPr>
          <a:xfrm>
            <a:off x="3273552" y="2926080"/>
            <a:ext cx="5422392" cy="457200"/>
          </a:xfrm>
          <a:prstGeom prst="roundRect">
            <a:avLst>
              <a:gd name="adj" fmla="val 16000"/>
            </a:avLst>
          </a:prstGeom>
          <a:solidFill>
            <a:schemeClr val="tx2"/>
          </a:solidFill>
          <a:ln w="12700">
            <a:solidFill>
              <a:schemeClr val="tx2"/>
            </a:solidFill>
            <a:prstDash val="solid"/>
          </a:ln>
        </p:spPr>
      </p:sp>
      <p:sp>
        <p:nvSpPr>
          <p:cNvPr id="16" name="Text 14"/>
          <p:cNvSpPr txBox="1"/>
          <p:nvPr/>
        </p:nvSpPr>
        <p:spPr>
          <a:xfrm>
            <a:off x="3383280" y="2926080"/>
            <a:ext cx="5212080" cy="457200"/>
          </a:xfrm>
          <a:prstGeom prst="rect">
            <a:avLst/>
          </a:prstGeom>
          <a:noFill/>
          <a:ln/>
        </p:spPr>
        <p:txBody>
          <a:bodyPr wrap="square" lIns="0" tIns="0" rIns="0" bIns="0" rtlCol="0" anchor="ctr"/>
          <a:lstStyle/>
          <a:p>
            <a:pPr marL="0" indent="0" algn="ctr">
              <a:buNone/>
            </a:pPr>
            <a:r>
              <a:rPr lang="en-US" sz="1300" b="1" dirty="0">
                <a:solidFill>
                  <a:schemeClr val="bg1"/>
                </a:solidFill>
              </a:rPr>
              <a:t>compatible = "edu,…"  is the contract between overlay and driver</a:t>
            </a:r>
            <a:endParaRPr lang="en-US" sz="1300" dirty="0"/>
          </a:p>
        </p:txBody>
      </p:sp>
      <p:sp>
        <p:nvSpPr>
          <p:cNvPr id="17" name="step Build"/>
          <p:cNvSpPr/>
          <p:nvPr/>
        </p:nvSpPr>
        <p:spPr>
          <a:xfrm>
            <a:off x="457200" y="3703320"/>
            <a:ext cx="1078992" cy="548640"/>
          </a:xfrm>
          <a:prstGeom prst="roundRect">
            <a:avLst>
              <a:gd name="adj" fmla="val 13333"/>
            </a:avLst>
          </a:prstGeom>
          <a:solidFill>
            <a:schemeClr val="bg2"/>
          </a:solidFill>
          <a:ln w="9525">
            <a:solidFill>
              <a:schemeClr val="accent6"/>
            </a:solidFill>
            <a:prstDash val="solid"/>
          </a:ln>
        </p:spPr>
      </p:sp>
      <p:sp>
        <p:nvSpPr>
          <p:cNvPr id="18" name="Text 16"/>
          <p:cNvSpPr txBox="1"/>
          <p:nvPr/>
        </p:nvSpPr>
        <p:spPr>
          <a:xfrm>
            <a:off x="45720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Build</a:t>
            </a:r>
            <a:endParaRPr lang="en-US" sz="1200" dirty="0"/>
          </a:p>
        </p:txBody>
      </p:sp>
      <p:sp>
        <p:nvSpPr>
          <p:cNvPr id="19" name="Text 17"/>
          <p:cNvSpPr txBox="1"/>
          <p:nvPr/>
        </p:nvSpPr>
        <p:spPr>
          <a:xfrm>
            <a:off x="150876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0" name="step Install"/>
          <p:cNvSpPr/>
          <p:nvPr/>
        </p:nvSpPr>
        <p:spPr>
          <a:xfrm>
            <a:off x="1645920" y="3703320"/>
            <a:ext cx="1078992" cy="548640"/>
          </a:xfrm>
          <a:prstGeom prst="roundRect">
            <a:avLst>
              <a:gd name="adj" fmla="val 13333"/>
            </a:avLst>
          </a:prstGeom>
          <a:solidFill>
            <a:schemeClr val="bg2"/>
          </a:solidFill>
          <a:ln w="9525">
            <a:solidFill>
              <a:schemeClr val="accent6"/>
            </a:solidFill>
            <a:prstDash val="solid"/>
          </a:ln>
        </p:spPr>
      </p:sp>
      <p:sp>
        <p:nvSpPr>
          <p:cNvPr id="21" name="Text 19"/>
          <p:cNvSpPr txBox="1"/>
          <p:nvPr/>
        </p:nvSpPr>
        <p:spPr>
          <a:xfrm>
            <a:off x="164592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Install</a:t>
            </a:r>
            <a:endParaRPr lang="en-US" sz="1200" dirty="0"/>
          </a:p>
        </p:txBody>
      </p:sp>
      <p:sp>
        <p:nvSpPr>
          <p:cNvPr id="22" name="Text 20"/>
          <p:cNvSpPr txBox="1"/>
          <p:nvPr/>
        </p:nvSpPr>
        <p:spPr>
          <a:xfrm>
            <a:off x="269748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3" name="step Boot / dtoverlay"/>
          <p:cNvSpPr/>
          <p:nvPr/>
        </p:nvSpPr>
        <p:spPr>
          <a:xfrm>
            <a:off x="2834640" y="3703320"/>
            <a:ext cx="1078992" cy="548640"/>
          </a:xfrm>
          <a:prstGeom prst="roundRect">
            <a:avLst>
              <a:gd name="adj" fmla="val 13333"/>
            </a:avLst>
          </a:prstGeom>
          <a:solidFill>
            <a:schemeClr val="bg2"/>
          </a:solidFill>
          <a:ln w="9525">
            <a:solidFill>
              <a:schemeClr val="accent6"/>
            </a:solidFill>
            <a:prstDash val="solid"/>
          </a:ln>
        </p:spPr>
      </p:sp>
      <p:sp>
        <p:nvSpPr>
          <p:cNvPr id="24" name="Text 22"/>
          <p:cNvSpPr txBox="1"/>
          <p:nvPr/>
        </p:nvSpPr>
        <p:spPr>
          <a:xfrm>
            <a:off x="283464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Boot / dtoverlay</a:t>
            </a:r>
            <a:endParaRPr lang="en-US" sz="1200" dirty="0"/>
          </a:p>
        </p:txBody>
      </p:sp>
      <p:sp>
        <p:nvSpPr>
          <p:cNvPr id="25" name="Text 23"/>
          <p:cNvSpPr txBox="1"/>
          <p:nvPr/>
        </p:nvSpPr>
        <p:spPr>
          <a:xfrm>
            <a:off x="388620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6" name="step Load"/>
          <p:cNvSpPr/>
          <p:nvPr/>
        </p:nvSpPr>
        <p:spPr>
          <a:xfrm>
            <a:off x="4023360" y="3703320"/>
            <a:ext cx="1078992" cy="548640"/>
          </a:xfrm>
          <a:prstGeom prst="roundRect">
            <a:avLst>
              <a:gd name="adj" fmla="val 13333"/>
            </a:avLst>
          </a:prstGeom>
          <a:solidFill>
            <a:schemeClr val="bg2"/>
          </a:solidFill>
          <a:ln w="9525">
            <a:solidFill>
              <a:schemeClr val="accent6"/>
            </a:solidFill>
            <a:prstDash val="solid"/>
          </a:ln>
        </p:spPr>
      </p:sp>
      <p:sp>
        <p:nvSpPr>
          <p:cNvPr id="27" name="Text 25"/>
          <p:cNvSpPr txBox="1"/>
          <p:nvPr/>
        </p:nvSpPr>
        <p:spPr>
          <a:xfrm>
            <a:off x="402336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Load</a:t>
            </a:r>
            <a:endParaRPr lang="en-US" sz="1200" dirty="0"/>
          </a:p>
        </p:txBody>
      </p:sp>
      <p:sp>
        <p:nvSpPr>
          <p:cNvPr id="28" name="Text 26"/>
          <p:cNvSpPr txBox="1"/>
          <p:nvPr/>
        </p:nvSpPr>
        <p:spPr>
          <a:xfrm>
            <a:off x="507492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9" name="step Probe"/>
          <p:cNvSpPr/>
          <p:nvPr/>
        </p:nvSpPr>
        <p:spPr>
          <a:xfrm>
            <a:off x="5212080" y="3703320"/>
            <a:ext cx="1078992" cy="548640"/>
          </a:xfrm>
          <a:prstGeom prst="roundRect">
            <a:avLst>
              <a:gd name="adj" fmla="val 13333"/>
            </a:avLst>
          </a:prstGeom>
          <a:solidFill>
            <a:schemeClr val="accent1"/>
          </a:solidFill>
          <a:ln w="9525">
            <a:solidFill>
              <a:schemeClr val="accent6"/>
            </a:solidFill>
            <a:prstDash val="solid"/>
          </a:ln>
        </p:spPr>
      </p:sp>
      <p:sp>
        <p:nvSpPr>
          <p:cNvPr id="30" name="Text 28"/>
          <p:cNvSpPr txBox="1"/>
          <p:nvPr/>
        </p:nvSpPr>
        <p:spPr>
          <a:xfrm>
            <a:off x="5212080" y="3703320"/>
            <a:ext cx="1078992" cy="548640"/>
          </a:xfrm>
          <a:prstGeom prst="rect">
            <a:avLst/>
          </a:prstGeom>
          <a:noFill/>
          <a:ln/>
        </p:spPr>
        <p:txBody>
          <a:bodyPr wrap="square" lIns="0" tIns="0" rIns="0" bIns="0" rtlCol="0" anchor="ctr"/>
          <a:lstStyle/>
          <a:p>
            <a:pPr marL="0" indent="0" algn="ctr">
              <a:buNone/>
            </a:pPr>
            <a:r>
              <a:rPr lang="en-US" sz="1200" b="1" dirty="0">
                <a:solidFill>
                  <a:schemeClr val="bg1"/>
                </a:solidFill>
              </a:rPr>
              <a:t>Probe</a:t>
            </a:r>
            <a:endParaRPr lang="en-US" sz="1200" dirty="0"/>
          </a:p>
        </p:txBody>
      </p:sp>
      <p:sp>
        <p:nvSpPr>
          <p:cNvPr id="31" name="Text 29"/>
          <p:cNvSpPr txBox="1"/>
          <p:nvPr/>
        </p:nvSpPr>
        <p:spPr>
          <a:xfrm>
            <a:off x="626364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32" name="step Run"/>
          <p:cNvSpPr/>
          <p:nvPr/>
        </p:nvSpPr>
        <p:spPr>
          <a:xfrm>
            <a:off x="6400800" y="3703320"/>
            <a:ext cx="1078992" cy="548640"/>
          </a:xfrm>
          <a:prstGeom prst="roundRect">
            <a:avLst>
              <a:gd name="adj" fmla="val 13333"/>
            </a:avLst>
          </a:prstGeom>
          <a:solidFill>
            <a:schemeClr val="bg2"/>
          </a:solidFill>
          <a:ln w="9525">
            <a:solidFill>
              <a:schemeClr val="accent6"/>
            </a:solidFill>
            <a:prstDash val="solid"/>
          </a:ln>
        </p:spPr>
      </p:sp>
      <p:sp>
        <p:nvSpPr>
          <p:cNvPr id="33" name="Text 31"/>
          <p:cNvSpPr txBox="1"/>
          <p:nvPr/>
        </p:nvSpPr>
        <p:spPr>
          <a:xfrm>
            <a:off x="640080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Run</a:t>
            </a:r>
            <a:endParaRPr lang="en-US" sz="1200" dirty="0"/>
          </a:p>
        </p:txBody>
      </p:sp>
      <p:sp>
        <p:nvSpPr>
          <p:cNvPr id="34" name="Text 32"/>
          <p:cNvSpPr txBox="1"/>
          <p:nvPr/>
        </p:nvSpPr>
        <p:spPr>
          <a:xfrm>
            <a:off x="745236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35" name="step Remove"/>
          <p:cNvSpPr/>
          <p:nvPr/>
        </p:nvSpPr>
        <p:spPr>
          <a:xfrm>
            <a:off x="7589520" y="3703320"/>
            <a:ext cx="1078992" cy="548640"/>
          </a:xfrm>
          <a:prstGeom prst="roundRect">
            <a:avLst>
              <a:gd name="adj" fmla="val 13333"/>
            </a:avLst>
          </a:prstGeom>
          <a:solidFill>
            <a:schemeClr val="bg2"/>
          </a:solidFill>
          <a:ln w="9525">
            <a:solidFill>
              <a:schemeClr val="accent6"/>
            </a:solidFill>
            <a:prstDash val="solid"/>
          </a:ln>
        </p:spPr>
      </p:sp>
      <p:sp>
        <p:nvSpPr>
          <p:cNvPr id="36" name="Text 34"/>
          <p:cNvSpPr txBox="1"/>
          <p:nvPr/>
        </p:nvSpPr>
        <p:spPr>
          <a:xfrm>
            <a:off x="758952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Remove</a:t>
            </a:r>
            <a:endParaRPr lang="en-US" sz="1200" dirty="0"/>
          </a:p>
        </p:txBody>
      </p:sp>
      <p:sp>
        <p:nvSpPr>
          <p:cNvPr id="37" name="Text 35"/>
          <p:cNvSpPr txBox="1"/>
          <p:nvPr/>
        </p:nvSpPr>
        <p:spPr>
          <a:xfrm>
            <a:off x="457200" y="4315968"/>
            <a:ext cx="8229600" cy="274320"/>
          </a:xfrm>
          <a:prstGeom prst="rect">
            <a:avLst/>
          </a:prstGeom>
          <a:noFill/>
          <a:ln/>
        </p:spPr>
        <p:txBody>
          <a:bodyPr wrap="square" lIns="0" tIns="0" rIns="0" bIns="0" rtlCol="0" anchor="t"/>
          <a:lstStyle/>
          <a:p>
            <a:pPr marL="0" indent="0">
              <a:buNone/>
            </a:pPr>
            <a:r>
              <a:rPr lang="en-US" sz="1100" i="1" dirty="0">
                <a:solidFill>
                  <a:schemeClr val="accent5"/>
                </a:solidFill>
              </a:rPr>
              <a:t>Timeline from source to running driver</a:t>
            </a:r>
            <a:endParaRPr lang="en-US" sz="1100" dirty="0"/>
          </a:p>
        </p:txBody>
      </p:sp>
      <p:sp>
        <p:nvSpPr>
          <p:cNvPr id="38"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What runs first: probe() → callbacks → remove()</a:t>
            </a:r>
            <a:endParaRPr lang="en-US" sz="2800" dirty="0"/>
          </a:p>
        </p:txBody>
      </p:sp>
      <p:sp>
        <p:nvSpPr>
          <p:cNvPr id="3" name="Load label"/>
          <p:cNvSpPr/>
          <p:nvPr/>
        </p:nvSpPr>
        <p:spPr>
          <a:xfrm>
            <a:off x="457200" y="1188720"/>
            <a:ext cx="1097280" cy="822960"/>
          </a:xfrm>
          <a:prstGeom prst="roundRect">
            <a:avLst>
              <a:gd name="adj" fmla="val 8889"/>
            </a:avLst>
          </a:prstGeom>
          <a:solidFill>
            <a:schemeClr val="accent3"/>
          </a:solidFill>
          <a:ln w="12700">
            <a:solidFill>
              <a:schemeClr val="accent3"/>
            </a:solidFill>
            <a:prstDash val="solid"/>
          </a:ln>
        </p:spPr>
      </p:sp>
      <p:sp>
        <p:nvSpPr>
          <p:cNvPr id="4" name="Text 2"/>
          <p:cNvSpPr txBox="1"/>
          <p:nvPr/>
        </p:nvSpPr>
        <p:spPr>
          <a:xfrm>
            <a:off x="457200" y="1188720"/>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Load</a:t>
            </a:r>
            <a:endParaRPr lang="en-US" sz="1600" dirty="0"/>
          </a:p>
        </p:txBody>
      </p:sp>
      <p:sp>
        <p:nvSpPr>
          <p:cNvPr id="5" name="Load step 0"/>
          <p:cNvSpPr/>
          <p:nvPr/>
        </p:nvSpPr>
        <p:spPr>
          <a:xfrm>
            <a:off x="1737360" y="1188720"/>
            <a:ext cx="1302106" cy="822960"/>
          </a:xfrm>
          <a:prstGeom prst="roundRect">
            <a:avLst>
              <a:gd name="adj" fmla="val 8889"/>
            </a:avLst>
          </a:prstGeom>
          <a:solidFill>
            <a:schemeClr val="bg2"/>
          </a:solidFill>
          <a:ln w="9525">
            <a:solidFill>
              <a:schemeClr val="accent6"/>
            </a:solidFill>
            <a:prstDash val="solid"/>
          </a:ln>
        </p:spPr>
      </p:sp>
      <p:sp>
        <p:nvSpPr>
          <p:cNvPr id="6" name="Text 4"/>
          <p:cNvSpPr txBox="1"/>
          <p:nvPr/>
        </p:nvSpPr>
        <p:spPr>
          <a:xfrm>
            <a:off x="1810512"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insmod</a:t>
            </a:r>
            <a:endParaRPr lang="en-US" sz="1200" dirty="0"/>
          </a:p>
        </p:txBody>
      </p:sp>
      <p:sp>
        <p:nvSpPr>
          <p:cNvPr id="7" name="Load step 1"/>
          <p:cNvSpPr/>
          <p:nvPr/>
        </p:nvSpPr>
        <p:spPr>
          <a:xfrm>
            <a:off x="3149194" y="1188720"/>
            <a:ext cx="1302106" cy="822960"/>
          </a:xfrm>
          <a:prstGeom prst="roundRect">
            <a:avLst>
              <a:gd name="adj" fmla="val 8889"/>
            </a:avLst>
          </a:prstGeom>
          <a:solidFill>
            <a:schemeClr val="bg2"/>
          </a:solidFill>
          <a:ln w="9525">
            <a:solidFill>
              <a:schemeClr val="accent6"/>
            </a:solidFill>
            <a:prstDash val="solid"/>
          </a:ln>
        </p:spPr>
      </p:sp>
      <p:sp>
        <p:nvSpPr>
          <p:cNvPr id="8" name="Text 6"/>
          <p:cNvSpPr txBox="1"/>
          <p:nvPr/>
        </p:nvSpPr>
        <p:spPr>
          <a:xfrm>
            <a:off x="3222346"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module init</a:t>
            </a:r>
            <a:endParaRPr lang="en-US" sz="1200" dirty="0"/>
          </a:p>
        </p:txBody>
      </p:sp>
      <p:sp>
        <p:nvSpPr>
          <p:cNvPr id="9" name="Load step 2"/>
          <p:cNvSpPr/>
          <p:nvPr/>
        </p:nvSpPr>
        <p:spPr>
          <a:xfrm>
            <a:off x="4561027" y="1188720"/>
            <a:ext cx="1302106" cy="822960"/>
          </a:xfrm>
          <a:prstGeom prst="roundRect">
            <a:avLst>
              <a:gd name="adj" fmla="val 8889"/>
            </a:avLst>
          </a:prstGeom>
          <a:solidFill>
            <a:schemeClr val="bg2"/>
          </a:solidFill>
          <a:ln w="9525">
            <a:solidFill>
              <a:schemeClr val="accent6"/>
            </a:solidFill>
            <a:prstDash val="solid"/>
          </a:ln>
        </p:spPr>
      </p:sp>
      <p:sp>
        <p:nvSpPr>
          <p:cNvPr id="10" name="Text 8"/>
          <p:cNvSpPr txBox="1"/>
          <p:nvPr/>
        </p:nvSpPr>
        <p:spPr>
          <a:xfrm>
            <a:off x="4634179"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platform_</a:t>
            </a:r>
            <a:endParaRPr lang="en-US" sz="1200" dirty="0"/>
          </a:p>
          <a:p>
            <a:pPr marL="0" indent="0" algn="ctr">
              <a:buNone/>
            </a:pPr>
            <a:r>
              <a:rPr lang="en-US" sz="1200" dirty="0">
                <a:solidFill>
                  <a:schemeClr val="tx2"/>
                </a:solidFill>
                <a:latin typeface="Courier New" pitchFamily="34" charset="0"/>
                <a:ea typeface="Courier New" pitchFamily="34" charset="-122"/>
                <a:cs typeface="Courier New" pitchFamily="34" charset="-120"/>
              </a:rPr>
              <a:t>driver_</a:t>
            </a:r>
            <a:endParaRPr lang="en-US" sz="1200" dirty="0"/>
          </a:p>
          <a:p>
            <a:pPr marL="0" indent="0" algn="ctr">
              <a:buNone/>
            </a:pPr>
            <a:r>
              <a:rPr lang="en-US" sz="1200" dirty="0">
                <a:solidFill>
                  <a:schemeClr val="tx2"/>
                </a:solidFill>
                <a:latin typeface="Courier New" pitchFamily="34" charset="0"/>
                <a:ea typeface="Courier New" pitchFamily="34" charset="-122"/>
                <a:cs typeface="Courier New" pitchFamily="34" charset="-120"/>
              </a:rPr>
              <a:t>register()</a:t>
            </a:r>
            <a:endParaRPr lang="en-US" sz="1200" dirty="0"/>
          </a:p>
        </p:txBody>
      </p:sp>
      <p:sp>
        <p:nvSpPr>
          <p:cNvPr id="11" name="Load step 3"/>
          <p:cNvSpPr/>
          <p:nvPr/>
        </p:nvSpPr>
        <p:spPr>
          <a:xfrm>
            <a:off x="5972861" y="1188720"/>
            <a:ext cx="1302106" cy="822960"/>
          </a:xfrm>
          <a:prstGeom prst="roundRect">
            <a:avLst>
              <a:gd name="adj" fmla="val 8889"/>
            </a:avLst>
          </a:prstGeom>
          <a:solidFill>
            <a:schemeClr val="bg2"/>
          </a:solidFill>
          <a:ln w="9525">
            <a:solidFill>
              <a:schemeClr val="accent6"/>
            </a:solidFill>
            <a:prstDash val="solid"/>
          </a:ln>
        </p:spPr>
      </p:sp>
      <p:sp>
        <p:nvSpPr>
          <p:cNvPr id="12" name="Text 10"/>
          <p:cNvSpPr txBox="1"/>
          <p:nvPr/>
        </p:nvSpPr>
        <p:spPr>
          <a:xfrm>
            <a:off x="6046013"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match compatible</a:t>
            </a:r>
            <a:endParaRPr lang="en-US" sz="1200" dirty="0"/>
          </a:p>
        </p:txBody>
      </p:sp>
      <p:sp>
        <p:nvSpPr>
          <p:cNvPr id="13" name="Load step 4"/>
          <p:cNvSpPr/>
          <p:nvPr/>
        </p:nvSpPr>
        <p:spPr>
          <a:xfrm>
            <a:off x="7384694" y="1188720"/>
            <a:ext cx="1302106" cy="822960"/>
          </a:xfrm>
          <a:prstGeom prst="roundRect">
            <a:avLst>
              <a:gd name="adj" fmla="val 8889"/>
            </a:avLst>
          </a:prstGeom>
          <a:solidFill>
            <a:schemeClr val="bg2"/>
          </a:solidFill>
          <a:ln w="9525">
            <a:solidFill>
              <a:schemeClr val="accent6"/>
            </a:solidFill>
            <a:prstDash val="solid"/>
          </a:ln>
        </p:spPr>
      </p:sp>
      <p:sp>
        <p:nvSpPr>
          <p:cNvPr id="14" name="Text 12"/>
          <p:cNvSpPr txBox="1"/>
          <p:nvPr/>
        </p:nvSpPr>
        <p:spPr>
          <a:xfrm>
            <a:off x="7457846"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probe()</a:t>
            </a:r>
            <a:endParaRPr lang="en-US" sz="1200" dirty="0"/>
          </a:p>
        </p:txBody>
      </p:sp>
      <p:sp>
        <p:nvSpPr>
          <p:cNvPr id="15" name="Run label"/>
          <p:cNvSpPr/>
          <p:nvPr/>
        </p:nvSpPr>
        <p:spPr>
          <a:xfrm>
            <a:off x="457200" y="2304288"/>
            <a:ext cx="1097280" cy="822960"/>
          </a:xfrm>
          <a:prstGeom prst="roundRect">
            <a:avLst>
              <a:gd name="adj" fmla="val 8889"/>
            </a:avLst>
          </a:prstGeom>
          <a:solidFill>
            <a:schemeClr val="accent2"/>
          </a:solidFill>
          <a:ln w="12700">
            <a:solidFill>
              <a:schemeClr val="accent2"/>
            </a:solidFill>
            <a:prstDash val="solid"/>
          </a:ln>
        </p:spPr>
      </p:sp>
      <p:sp>
        <p:nvSpPr>
          <p:cNvPr id="16" name="Text 14"/>
          <p:cNvSpPr txBox="1"/>
          <p:nvPr/>
        </p:nvSpPr>
        <p:spPr>
          <a:xfrm>
            <a:off x="457200" y="2304288"/>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Run</a:t>
            </a:r>
            <a:endParaRPr lang="en-US" sz="1600" dirty="0"/>
          </a:p>
        </p:txBody>
      </p:sp>
      <p:sp>
        <p:nvSpPr>
          <p:cNvPr id="17" name="Run step 0"/>
          <p:cNvSpPr/>
          <p:nvPr/>
        </p:nvSpPr>
        <p:spPr>
          <a:xfrm>
            <a:off x="1737360" y="2304288"/>
            <a:ext cx="1655064" cy="822960"/>
          </a:xfrm>
          <a:prstGeom prst="roundRect">
            <a:avLst>
              <a:gd name="adj" fmla="val 8889"/>
            </a:avLst>
          </a:prstGeom>
          <a:solidFill>
            <a:schemeClr val="bg2"/>
          </a:solidFill>
          <a:ln w="9525">
            <a:solidFill>
              <a:schemeClr val="accent6"/>
            </a:solidFill>
            <a:prstDash val="solid"/>
          </a:ln>
        </p:spPr>
      </p:sp>
      <p:sp>
        <p:nvSpPr>
          <p:cNvPr id="18" name="Text 16"/>
          <p:cNvSpPr txBox="1"/>
          <p:nvPr/>
        </p:nvSpPr>
        <p:spPr>
          <a:xfrm>
            <a:off x="1810512"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Timer: bcm_timer_isr()</a:t>
            </a:r>
            <a:endParaRPr lang="en-US" sz="1200" dirty="0"/>
          </a:p>
        </p:txBody>
      </p:sp>
      <p:sp>
        <p:nvSpPr>
          <p:cNvPr id="19" name="Run step 1"/>
          <p:cNvSpPr/>
          <p:nvPr/>
        </p:nvSpPr>
        <p:spPr>
          <a:xfrm>
            <a:off x="3502152" y="2304288"/>
            <a:ext cx="1655064" cy="822960"/>
          </a:xfrm>
          <a:prstGeom prst="roundRect">
            <a:avLst>
              <a:gd name="adj" fmla="val 8889"/>
            </a:avLst>
          </a:prstGeom>
          <a:solidFill>
            <a:schemeClr val="bg2"/>
          </a:solidFill>
          <a:ln w="9525">
            <a:solidFill>
              <a:schemeClr val="accent6"/>
            </a:solidFill>
            <a:prstDash val="solid"/>
          </a:ln>
        </p:spPr>
      </p:sp>
      <p:sp>
        <p:nvSpPr>
          <p:cNvPr id="20" name="Text 18"/>
          <p:cNvSpPr txBox="1"/>
          <p:nvPr/>
        </p:nvSpPr>
        <p:spPr>
          <a:xfrm>
            <a:off x="3575304"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sysfs: *_show / *_store</a:t>
            </a:r>
            <a:endParaRPr lang="en-US" sz="1200" dirty="0"/>
          </a:p>
        </p:txBody>
      </p:sp>
      <p:sp>
        <p:nvSpPr>
          <p:cNvPr id="21" name="Run step 2"/>
          <p:cNvSpPr/>
          <p:nvPr/>
        </p:nvSpPr>
        <p:spPr>
          <a:xfrm>
            <a:off x="5266944" y="2304288"/>
            <a:ext cx="1655064" cy="822960"/>
          </a:xfrm>
          <a:prstGeom prst="roundRect">
            <a:avLst>
              <a:gd name="adj" fmla="val 8889"/>
            </a:avLst>
          </a:prstGeom>
          <a:solidFill>
            <a:schemeClr val="bg2"/>
          </a:solidFill>
          <a:ln w="9525">
            <a:solidFill>
              <a:schemeClr val="accent6"/>
            </a:solidFill>
            <a:prstDash val="solid"/>
          </a:ln>
        </p:spPr>
      </p:sp>
      <p:sp>
        <p:nvSpPr>
          <p:cNvPr id="22" name="Text 20"/>
          <p:cNvSpPr txBox="1"/>
          <p:nvPr/>
        </p:nvSpPr>
        <p:spPr>
          <a:xfrm>
            <a:off x="5340096"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PWM: bcm_pwm_apply()</a:t>
            </a:r>
            <a:endParaRPr lang="en-US" sz="1200" dirty="0"/>
          </a:p>
        </p:txBody>
      </p:sp>
      <p:sp>
        <p:nvSpPr>
          <p:cNvPr id="23" name="Run step 3"/>
          <p:cNvSpPr/>
          <p:nvPr/>
        </p:nvSpPr>
        <p:spPr>
          <a:xfrm>
            <a:off x="7031736" y="2304288"/>
            <a:ext cx="1655064" cy="822960"/>
          </a:xfrm>
          <a:prstGeom prst="roundRect">
            <a:avLst>
              <a:gd name="adj" fmla="val 8889"/>
            </a:avLst>
          </a:prstGeom>
          <a:solidFill>
            <a:schemeClr val="bg2"/>
          </a:solidFill>
          <a:ln w="9525">
            <a:solidFill>
              <a:schemeClr val="accent6"/>
            </a:solidFill>
            <a:prstDash val="solid"/>
          </a:ln>
        </p:spPr>
      </p:sp>
      <p:sp>
        <p:nvSpPr>
          <p:cNvPr id="24" name="Text 22"/>
          <p:cNvSpPr txBox="1"/>
          <p:nvPr/>
        </p:nvSpPr>
        <p:spPr>
          <a:xfrm>
            <a:off x="7104888"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RTC: ds_read_time() / ds_set_time()</a:t>
            </a:r>
            <a:endParaRPr lang="en-US" sz="1200" dirty="0"/>
          </a:p>
        </p:txBody>
      </p:sp>
      <p:sp>
        <p:nvSpPr>
          <p:cNvPr id="25" name="Unload label"/>
          <p:cNvSpPr/>
          <p:nvPr/>
        </p:nvSpPr>
        <p:spPr>
          <a:xfrm>
            <a:off x="457200" y="3419856"/>
            <a:ext cx="1097280" cy="822960"/>
          </a:xfrm>
          <a:prstGeom prst="roundRect">
            <a:avLst>
              <a:gd name="adj" fmla="val 8889"/>
            </a:avLst>
          </a:prstGeom>
          <a:solidFill>
            <a:schemeClr val="accent1"/>
          </a:solidFill>
          <a:ln w="12700">
            <a:solidFill>
              <a:schemeClr val="accent1"/>
            </a:solidFill>
            <a:prstDash val="solid"/>
          </a:ln>
        </p:spPr>
      </p:sp>
      <p:sp>
        <p:nvSpPr>
          <p:cNvPr id="26" name="Text 24"/>
          <p:cNvSpPr txBox="1"/>
          <p:nvPr/>
        </p:nvSpPr>
        <p:spPr>
          <a:xfrm>
            <a:off x="457200" y="3419856"/>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Unload</a:t>
            </a:r>
            <a:endParaRPr lang="en-US" sz="1600" dirty="0"/>
          </a:p>
        </p:txBody>
      </p:sp>
      <p:sp>
        <p:nvSpPr>
          <p:cNvPr id="27" name="Unload step 0"/>
          <p:cNvSpPr/>
          <p:nvPr/>
        </p:nvSpPr>
        <p:spPr>
          <a:xfrm>
            <a:off x="1737360" y="3419856"/>
            <a:ext cx="1655064" cy="822960"/>
          </a:xfrm>
          <a:prstGeom prst="roundRect">
            <a:avLst>
              <a:gd name="adj" fmla="val 8889"/>
            </a:avLst>
          </a:prstGeom>
          <a:solidFill>
            <a:schemeClr val="bg2"/>
          </a:solidFill>
          <a:ln w="9525">
            <a:solidFill>
              <a:schemeClr val="accent6"/>
            </a:solidFill>
            <a:prstDash val="solid"/>
          </a:ln>
        </p:spPr>
      </p:sp>
      <p:sp>
        <p:nvSpPr>
          <p:cNvPr id="28" name="Text 26"/>
          <p:cNvSpPr txBox="1"/>
          <p:nvPr/>
        </p:nvSpPr>
        <p:spPr>
          <a:xfrm>
            <a:off x="1810512"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rmmod</a:t>
            </a:r>
            <a:endParaRPr lang="en-US" sz="1200" dirty="0"/>
          </a:p>
        </p:txBody>
      </p:sp>
      <p:sp>
        <p:nvSpPr>
          <p:cNvPr id="29" name="Unload step 1"/>
          <p:cNvSpPr/>
          <p:nvPr/>
        </p:nvSpPr>
        <p:spPr>
          <a:xfrm>
            <a:off x="3502152" y="3419856"/>
            <a:ext cx="1655064" cy="822960"/>
          </a:xfrm>
          <a:prstGeom prst="roundRect">
            <a:avLst>
              <a:gd name="adj" fmla="val 8889"/>
            </a:avLst>
          </a:prstGeom>
          <a:solidFill>
            <a:schemeClr val="bg2"/>
          </a:solidFill>
          <a:ln w="9525">
            <a:solidFill>
              <a:schemeClr val="accent6"/>
            </a:solidFill>
            <a:prstDash val="solid"/>
          </a:ln>
        </p:spPr>
      </p:sp>
      <p:sp>
        <p:nvSpPr>
          <p:cNvPr id="30" name="Text 28"/>
          <p:cNvSpPr txBox="1"/>
          <p:nvPr/>
        </p:nvSpPr>
        <p:spPr>
          <a:xfrm>
            <a:off x="3575304"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remove()</a:t>
            </a:r>
            <a:endParaRPr lang="en-US" sz="1200" dirty="0"/>
          </a:p>
        </p:txBody>
      </p:sp>
      <p:sp>
        <p:nvSpPr>
          <p:cNvPr id="31" name="Unload step 2"/>
          <p:cNvSpPr/>
          <p:nvPr/>
        </p:nvSpPr>
        <p:spPr>
          <a:xfrm>
            <a:off x="5266944" y="3419856"/>
            <a:ext cx="1655064" cy="822960"/>
          </a:xfrm>
          <a:prstGeom prst="roundRect">
            <a:avLst>
              <a:gd name="adj" fmla="val 8889"/>
            </a:avLst>
          </a:prstGeom>
          <a:solidFill>
            <a:schemeClr val="bg2"/>
          </a:solidFill>
          <a:ln w="9525">
            <a:solidFill>
              <a:schemeClr val="accent6"/>
            </a:solidFill>
            <a:prstDash val="solid"/>
          </a:ln>
        </p:spPr>
      </p:sp>
      <p:sp>
        <p:nvSpPr>
          <p:cNvPr id="32" name="Text 30"/>
          <p:cNvSpPr txBox="1"/>
          <p:nvPr/>
        </p:nvSpPr>
        <p:spPr>
          <a:xfrm>
            <a:off x="5340096"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devm release (reverse order)</a:t>
            </a:r>
            <a:endParaRPr lang="en-US" sz="1200" dirty="0"/>
          </a:p>
        </p:txBody>
      </p:sp>
      <p:sp>
        <p:nvSpPr>
          <p:cNvPr id="33" name="Unload step 3"/>
          <p:cNvSpPr/>
          <p:nvPr/>
        </p:nvSpPr>
        <p:spPr>
          <a:xfrm>
            <a:off x="7031736" y="3419856"/>
            <a:ext cx="1655064" cy="822960"/>
          </a:xfrm>
          <a:prstGeom prst="roundRect">
            <a:avLst>
              <a:gd name="adj" fmla="val 8889"/>
            </a:avLst>
          </a:prstGeom>
          <a:solidFill>
            <a:schemeClr val="bg2"/>
          </a:solidFill>
          <a:ln w="9525">
            <a:solidFill>
              <a:schemeClr val="accent6"/>
            </a:solidFill>
            <a:prstDash val="solid"/>
          </a:ln>
        </p:spPr>
      </p:sp>
      <p:sp>
        <p:nvSpPr>
          <p:cNvPr id="34" name="Text 32"/>
          <p:cNvSpPr txBox="1"/>
          <p:nvPr/>
        </p:nvSpPr>
        <p:spPr>
          <a:xfrm>
            <a:off x="7104888"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module exit</a:t>
            </a:r>
            <a:endParaRPr lang="en-US" sz="1200" dirty="0"/>
          </a:p>
        </p:txBody>
      </p:sp>
      <p:sp>
        <p:nvSpPr>
          <p:cNvPr id="35" name="Text 33"/>
          <p:cNvSpPr txBox="1"/>
          <p:nvPr/>
        </p:nvSpPr>
        <p:spPr>
          <a:xfrm>
            <a:off x="457200" y="4434840"/>
            <a:ext cx="8229600" cy="274320"/>
          </a:xfrm>
          <a:prstGeom prst="rect">
            <a:avLst/>
          </a:prstGeom>
          <a:noFill/>
          <a:ln/>
        </p:spPr>
        <p:txBody>
          <a:bodyPr wrap="square" lIns="0" tIns="0" rIns="0" bIns="0" rtlCol="0" anchor="t"/>
          <a:lstStyle/>
          <a:p>
            <a:pPr marL="0" indent="0">
              <a:buNone/>
            </a:pPr>
            <a:r>
              <a:rPr lang="en-US" sz="1200" i="1" dirty="0">
                <a:solidFill>
                  <a:schemeClr val="accent5"/>
                </a:solidFill>
              </a:rPr>
              <a:t>probe() always runs first and remove() last; the run-phase functions are event-driven, with no fixed order</a:t>
            </a:r>
            <a:endParaRPr lang="en-US" sz="1200" dirty="0"/>
          </a:p>
        </p:txBody>
      </p:sp>
      <p:sp>
        <p:nvSpPr>
          <p:cNvPr id="36"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Hardware setup</a:t>
            </a:r>
            <a:endParaRPr lang="en-US" sz="2800" dirty="0"/>
          </a:p>
        </p:txBody>
      </p:sp>
      <p:pic>
        <p:nvPicPr>
          <p:cNvPr id="3" name="Assembled hardware" descr="Assembled hardware"/>
          <p:cNvPicPr>
            <a:picLocks noChangeAspect="1"/>
          </p:cNvPicPr>
          <p:nvPr/>
        </p:nvPicPr>
        <p:blipFill>
          <a:blip r:embed="rId3"/>
          <a:stretch>
            <a:fillRect/>
          </a:stretch>
        </p:blipFill>
        <p:spPr>
          <a:xfrm>
            <a:off x="457200" y="1226747"/>
            <a:ext cx="2651760" cy="3215785"/>
          </a:xfrm>
          <a:prstGeom prst="rect">
            <a:avLst/>
          </a:prstGeom>
        </p:spPr>
      </p:pic>
      <p:graphicFrame>
        <p:nvGraphicFramePr>
          <p:cNvPr id="7" name="pin table"/>
          <p:cNvGraphicFramePr>
            <a:graphicFrameLocks noGrp="1"/>
          </p:cNvGraphicFramePr>
          <p:nvPr>
            <p:extLst>
              <p:ext uri="{D42A27DB-BD31-4B8C-83A1-F6EECF244321}">
                <p14:modId xmlns:p14="http://schemas.microsoft.com/office/powerpoint/2010/main" val="1579011935"/>
              </p:ext>
            </p:extLst>
          </p:nvPr>
        </p:nvGraphicFramePr>
        <p:xfrm>
          <a:off x="3337560" y="1097280"/>
          <a:ext cx="5349240" cy="2304288"/>
        </p:xfrm>
        <a:graphic>
          <a:graphicData uri="http://schemas.openxmlformats.org/drawingml/2006/table">
            <a:tbl>
              <a:tblPr/>
              <a:tblGrid>
                <a:gridCol w="12344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marL="0" indent="0">
                        <a:buNone/>
                      </a:pPr>
                      <a:r>
                        <a:rPr lang="en-US" sz="1200" b="1" dirty="0">
                          <a:solidFill>
                            <a:srgbClr val="FFFFFF"/>
                          </a:solidFill>
                        </a:rPr>
                        <a:t>Device</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Pin</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Pi header</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Note</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1E2329"/>
                          </a:solidFill>
                        </a:rPr>
                        <a:t>LED (Timer)</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Anode, 330 Ω</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11 · GPIO17</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Cathode → pin 9</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1E2329"/>
                          </a:solidFill>
                        </a:rPr>
                        <a:t>LED (PWM)</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Anode, 330 Ω</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12 · GPIO18 (ALT5)</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Cathode → pin 14</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1E2329"/>
                          </a:solidFill>
                        </a:rPr>
                        <a:t>DS1307 VCC</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VCC</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4 · 5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Must be 5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1E2329"/>
                          </a:solidFill>
                        </a:rPr>
                        <a:t>DS1307 GND</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GND</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6</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1E2329"/>
                          </a:solidFill>
                        </a:rPr>
                        <a:t>DS1307 SDA</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SDA</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3 · GPIO2</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 pull-up to 3.3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1E2329"/>
                          </a:solidFill>
                        </a:rPr>
                        <a:t>DS1307 SCL</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SCL</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5 · GPIO3</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 pull-up to 3.3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3337560" y="3794760"/>
            <a:ext cx="5349240" cy="685800"/>
          </a:xfrm>
          <a:prstGeom prst="rect">
            <a:avLst/>
          </a:prstGeom>
          <a:noFill/>
          <a:ln/>
        </p:spPr>
        <p:txBody>
          <a:bodyPr wrap="square" lIns="0" tIns="0" rIns="0" bIns="0" rtlCol="0" anchor="t"/>
          <a:lstStyle/>
          <a:p>
            <a:pPr marL="0" indent="0">
              <a:buNone/>
            </a:pPr>
            <a:r>
              <a:rPr lang="en-US" sz="1300" dirty="0">
                <a:solidFill>
                  <a:schemeClr val="accent5"/>
                </a:solidFill>
              </a:rPr>
              <a:t>The DS1307 module was checked first: no 5 V pull-ups on SDA/SCL and no charging voltage on the CR2032 holder.</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Installation and compilation workflow</a:t>
            </a:r>
            <a:endParaRPr lang="en-US" sz="2800" dirty="0"/>
          </a:p>
        </p:txBody>
      </p:sp>
      <p:sp>
        <p:nvSpPr>
          <p:cNvPr id="3" name="step num 1"/>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09728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 3"/>
          <p:cNvSpPr txBox="1"/>
          <p:nvPr/>
        </p:nvSpPr>
        <p:spPr>
          <a:xfrm>
            <a:off x="1051560" y="1060704"/>
            <a:ext cx="3017520" cy="274320"/>
          </a:xfrm>
          <a:prstGeom prst="rect">
            <a:avLst/>
          </a:prstGeom>
          <a:noFill/>
          <a:ln/>
        </p:spPr>
        <p:txBody>
          <a:bodyPr wrap="square" lIns="0" tIns="0" rIns="0" bIns="0" rtlCol="0" anchor="t"/>
          <a:lstStyle/>
          <a:p>
            <a:pPr marL="0" indent="0">
              <a:buNone/>
            </a:pPr>
            <a:r>
              <a:rPr lang="en-US" sz="1500" b="1" dirty="0">
                <a:solidFill>
                  <a:schemeClr val="tx2"/>
                </a:solidFill>
              </a:rPr>
              <a:t>Prepare OS</a:t>
            </a:r>
            <a:endParaRPr lang="en-US" sz="1500" dirty="0"/>
          </a:p>
        </p:txBody>
      </p:sp>
      <p:sp>
        <p:nvSpPr>
          <p:cNvPr id="6" name="Text 4"/>
          <p:cNvSpPr txBox="1"/>
          <p:nvPr/>
        </p:nvSpPr>
        <p:spPr>
          <a:xfrm>
            <a:off x="1051560" y="1316736"/>
            <a:ext cx="3108960" cy="411480"/>
          </a:xfrm>
          <a:prstGeom prst="rect">
            <a:avLst/>
          </a:prstGeom>
          <a:noFill/>
          <a:ln/>
        </p:spPr>
        <p:txBody>
          <a:bodyPr wrap="square" lIns="0" tIns="0" rIns="0" bIns="0" rtlCol="0" anchor="t"/>
          <a:lstStyle/>
          <a:p>
            <a:pPr marL="0" indent="0">
              <a:buNone/>
            </a:pPr>
            <a:r>
              <a:rPr lang="en-US" sz="1200" dirty="0">
                <a:solidFill>
                  <a:schemeClr val="accent5"/>
                </a:solidFill>
              </a:rPr>
              <a:t>apt full-upgrade, linux-headers-rpi-v6, device-tree-compiler, i2c-tools</a:t>
            </a:r>
            <a:endParaRPr lang="en-US" sz="1200" dirty="0"/>
          </a:p>
        </p:txBody>
      </p:sp>
      <p:sp>
        <p:nvSpPr>
          <p:cNvPr id="7" name="step num 2"/>
          <p:cNvSpPr/>
          <p:nvPr/>
        </p:nvSpPr>
        <p:spPr>
          <a:xfrm>
            <a:off x="457200" y="179222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79222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Text 7"/>
          <p:cNvSpPr txBox="1"/>
          <p:nvPr/>
        </p:nvSpPr>
        <p:spPr>
          <a:xfrm>
            <a:off x="1051560" y="1755648"/>
            <a:ext cx="3017520" cy="274320"/>
          </a:xfrm>
          <a:prstGeom prst="rect">
            <a:avLst/>
          </a:prstGeom>
          <a:noFill/>
          <a:ln/>
        </p:spPr>
        <p:txBody>
          <a:bodyPr wrap="square" lIns="0" tIns="0" rIns="0" bIns="0" rtlCol="0" anchor="t"/>
          <a:lstStyle/>
          <a:p>
            <a:pPr marL="0" indent="0">
              <a:buNone/>
            </a:pPr>
            <a:r>
              <a:rPr lang="en-US" sz="1500" b="1" dirty="0">
                <a:solidFill>
                  <a:schemeClr val="tx2"/>
                </a:solidFill>
              </a:rPr>
              <a:t>Enable I2C</a:t>
            </a:r>
            <a:endParaRPr lang="en-US" sz="1500" dirty="0"/>
          </a:p>
        </p:txBody>
      </p:sp>
      <p:sp>
        <p:nvSpPr>
          <p:cNvPr id="10" name="Text 8"/>
          <p:cNvSpPr txBox="1"/>
          <p:nvPr/>
        </p:nvSpPr>
        <p:spPr>
          <a:xfrm>
            <a:off x="1051560" y="2011680"/>
            <a:ext cx="3108960" cy="411480"/>
          </a:xfrm>
          <a:prstGeom prst="rect">
            <a:avLst/>
          </a:prstGeom>
          <a:noFill/>
          <a:ln/>
        </p:spPr>
        <p:txBody>
          <a:bodyPr wrap="square" lIns="0" tIns="0" rIns="0" bIns="0" rtlCol="0" anchor="t"/>
          <a:lstStyle/>
          <a:p>
            <a:pPr marL="0" indent="0">
              <a:buNone/>
            </a:pPr>
            <a:r>
              <a:rPr lang="en-US" sz="1200" dirty="0">
                <a:solidFill>
                  <a:schemeClr val="accent5"/>
                </a:solidFill>
              </a:rPr>
              <a:t>raspi-config → i2cdetect shows 0x68</a:t>
            </a:r>
            <a:endParaRPr lang="en-US" sz="1200" dirty="0"/>
          </a:p>
        </p:txBody>
      </p:sp>
      <p:sp>
        <p:nvSpPr>
          <p:cNvPr id="11" name="step num 3"/>
          <p:cNvSpPr/>
          <p:nvPr/>
        </p:nvSpPr>
        <p:spPr>
          <a:xfrm>
            <a:off x="457200" y="248716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48716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3" name="Text 11"/>
          <p:cNvSpPr txBox="1"/>
          <p:nvPr/>
        </p:nvSpPr>
        <p:spPr>
          <a:xfrm>
            <a:off x="1051560" y="2450592"/>
            <a:ext cx="3017520" cy="274320"/>
          </a:xfrm>
          <a:prstGeom prst="rect">
            <a:avLst/>
          </a:prstGeom>
          <a:noFill/>
          <a:ln/>
        </p:spPr>
        <p:txBody>
          <a:bodyPr wrap="square" lIns="0" tIns="0" rIns="0" bIns="0" rtlCol="0" anchor="t"/>
          <a:lstStyle/>
          <a:p>
            <a:pPr marL="0" indent="0">
              <a:buNone/>
            </a:pPr>
            <a:r>
              <a:rPr lang="en-US" sz="1500" b="1" dirty="0">
                <a:solidFill>
                  <a:schemeClr val="tx2"/>
                </a:solidFill>
              </a:rPr>
              <a:t>Copy sources</a:t>
            </a:r>
            <a:endParaRPr lang="en-US" sz="1500" dirty="0"/>
          </a:p>
        </p:txBody>
      </p:sp>
      <p:sp>
        <p:nvSpPr>
          <p:cNvPr id="14" name="Text 12"/>
          <p:cNvSpPr txBox="1"/>
          <p:nvPr/>
        </p:nvSpPr>
        <p:spPr>
          <a:xfrm>
            <a:off x="1051560" y="2706624"/>
            <a:ext cx="3108960" cy="411480"/>
          </a:xfrm>
          <a:prstGeom prst="rect">
            <a:avLst/>
          </a:prstGeom>
          <a:noFill/>
          <a:ln/>
        </p:spPr>
        <p:txBody>
          <a:bodyPr wrap="square" lIns="0" tIns="0" rIns="0" bIns="0" rtlCol="0" anchor="t"/>
          <a:lstStyle/>
          <a:p>
            <a:pPr marL="0" indent="0">
              <a:buNone/>
            </a:pPr>
            <a:r>
              <a:rPr lang="en-US" sz="1200" dirty="0">
                <a:solidFill>
                  <a:schemeClr val="accent5"/>
                </a:solidFill>
              </a:rPr>
              <a:t>scp .c, overlay .dts, Makefile to ~/Timer, ~/PWM, ~/RTC</a:t>
            </a:r>
            <a:endParaRPr lang="en-US" sz="1200" dirty="0"/>
          </a:p>
        </p:txBody>
      </p:sp>
      <p:sp>
        <p:nvSpPr>
          <p:cNvPr id="15" name="step num 4"/>
          <p:cNvSpPr/>
          <p:nvPr/>
        </p:nvSpPr>
        <p:spPr>
          <a:xfrm>
            <a:off x="457200" y="3182112"/>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18211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7" name="Text 15"/>
          <p:cNvSpPr txBox="1"/>
          <p:nvPr/>
        </p:nvSpPr>
        <p:spPr>
          <a:xfrm>
            <a:off x="1051560" y="3145536"/>
            <a:ext cx="3017520" cy="274320"/>
          </a:xfrm>
          <a:prstGeom prst="rect">
            <a:avLst/>
          </a:prstGeom>
          <a:noFill/>
          <a:ln/>
        </p:spPr>
        <p:txBody>
          <a:bodyPr wrap="square" lIns="0" tIns="0" rIns="0" bIns="0" rtlCol="0" anchor="t"/>
          <a:lstStyle/>
          <a:p>
            <a:pPr marL="0" indent="0">
              <a:buNone/>
            </a:pPr>
            <a:r>
              <a:rPr lang="en-US" sz="1500" b="1" dirty="0">
                <a:solidFill>
                  <a:schemeClr val="tx2"/>
                </a:solidFill>
              </a:rPr>
              <a:t>Build</a:t>
            </a:r>
            <a:endParaRPr lang="en-US" sz="1500" dirty="0"/>
          </a:p>
        </p:txBody>
      </p:sp>
      <p:sp>
        <p:nvSpPr>
          <p:cNvPr id="18" name="Text 16"/>
          <p:cNvSpPr txBox="1"/>
          <p:nvPr/>
        </p:nvSpPr>
        <p:spPr>
          <a:xfrm>
            <a:off x="1051560" y="3401568"/>
            <a:ext cx="3108960" cy="411480"/>
          </a:xfrm>
          <a:prstGeom prst="rect">
            <a:avLst/>
          </a:prstGeom>
          <a:noFill/>
          <a:ln/>
        </p:spPr>
        <p:txBody>
          <a:bodyPr wrap="square" lIns="0" tIns="0" rIns="0" bIns="0" rtlCol="0" anchor="t"/>
          <a:lstStyle/>
          <a:p>
            <a:pPr marL="0" indent="0">
              <a:buNone/>
            </a:pPr>
            <a:r>
              <a:rPr lang="en-US" sz="1200" dirty="0">
                <a:solidFill>
                  <a:schemeClr val="accent5"/>
                </a:solidFill>
              </a:rPr>
              <a:t>make → .ko (Kbuild) and .dtbo (dtc -@)</a:t>
            </a:r>
            <a:endParaRPr lang="en-US" sz="1200" dirty="0"/>
          </a:p>
        </p:txBody>
      </p:sp>
      <p:sp>
        <p:nvSpPr>
          <p:cNvPr id="19" name="step num 5"/>
          <p:cNvSpPr/>
          <p:nvPr/>
        </p:nvSpPr>
        <p:spPr>
          <a:xfrm>
            <a:off x="457200" y="387705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387705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1" name="Text 19"/>
          <p:cNvSpPr txBox="1"/>
          <p:nvPr/>
        </p:nvSpPr>
        <p:spPr>
          <a:xfrm>
            <a:off x="1051560" y="3840480"/>
            <a:ext cx="3017520" cy="274320"/>
          </a:xfrm>
          <a:prstGeom prst="rect">
            <a:avLst/>
          </a:prstGeom>
          <a:noFill/>
          <a:ln/>
        </p:spPr>
        <p:txBody>
          <a:bodyPr wrap="square" lIns="0" tIns="0" rIns="0" bIns="0" rtlCol="0" anchor="t"/>
          <a:lstStyle/>
          <a:p>
            <a:pPr marL="0" indent="0">
              <a:buNone/>
            </a:pPr>
            <a:r>
              <a:rPr lang="en-US" sz="1500" b="1" dirty="0">
                <a:solidFill>
                  <a:schemeClr val="tx2"/>
                </a:solidFill>
              </a:rPr>
              <a:t>Load</a:t>
            </a:r>
            <a:endParaRPr lang="en-US" sz="1500" dirty="0"/>
          </a:p>
        </p:txBody>
      </p:sp>
      <p:sp>
        <p:nvSpPr>
          <p:cNvPr id="22" name="Text 20"/>
          <p:cNvSpPr txBox="1"/>
          <p:nvPr/>
        </p:nvSpPr>
        <p:spPr>
          <a:xfrm>
            <a:off x="1051560" y="4096512"/>
            <a:ext cx="3108960" cy="411480"/>
          </a:xfrm>
          <a:prstGeom prst="rect">
            <a:avLst/>
          </a:prstGeom>
          <a:noFill/>
          <a:ln/>
        </p:spPr>
        <p:txBody>
          <a:bodyPr wrap="square" lIns="0" tIns="0" rIns="0" bIns="0" rtlCol="0" anchor="t"/>
          <a:lstStyle/>
          <a:p>
            <a:pPr marL="0" indent="0">
              <a:buNone/>
            </a:pPr>
            <a:r>
              <a:rPr lang="en-US" sz="1200" dirty="0">
                <a:solidFill>
                  <a:schemeClr val="accent5"/>
                </a:solidFill>
              </a:rPr>
              <a:t>dtoverlay -d . + insmod, or make install + config.txt</a:t>
            </a:r>
            <a:endParaRPr lang="en-US" sz="1200" dirty="0"/>
          </a:p>
        </p:txBody>
      </p:sp>
      <p:pic>
        <p:nvPicPr>
          <p:cNvPr id="23" name="Build output timer" descr="Build output timer"/>
          <p:cNvPicPr>
            <a:picLocks noChangeAspect="1"/>
          </p:cNvPicPr>
          <p:nvPr/>
        </p:nvPicPr>
        <p:blipFill>
          <a:blip r:embed="rId3"/>
          <a:stretch>
            <a:fillRect/>
          </a:stretch>
        </p:blipFill>
        <p:spPr>
          <a:xfrm>
            <a:off x="4434840" y="1051560"/>
            <a:ext cx="4251960" cy="1677903"/>
          </a:xfrm>
          <a:prstGeom prst="rect">
            <a:avLst/>
          </a:prstGeom>
        </p:spPr>
      </p:pic>
      <p:sp>
        <p:nvSpPr>
          <p:cNvPr id="24" name="Text 21"/>
          <p:cNvSpPr txBox="1"/>
          <p:nvPr/>
        </p:nvSpPr>
        <p:spPr>
          <a:xfrm>
            <a:off x="4434840" y="2775183"/>
            <a:ext cx="4251960" cy="256032"/>
          </a:xfrm>
          <a:prstGeom prst="rect">
            <a:avLst/>
          </a:prstGeom>
          <a:noFill/>
          <a:ln/>
        </p:spPr>
        <p:txBody>
          <a:bodyPr wrap="square" lIns="0" tIns="0" rIns="0" bIns="0" rtlCol="0" anchor="t"/>
          <a:lstStyle/>
          <a:p>
            <a:pPr marL="0" indent="0" algn="ctr">
              <a:buNone/>
            </a:pPr>
            <a:r>
              <a:rPr lang="en-US" sz="1100" i="1" dirty="0">
                <a:solidFill>
                  <a:schemeClr val="accent5"/>
                </a:solidFill>
              </a:rPr>
              <a:t>make: Kbuild builds the .ko, dtc builds the .dtbo</a:t>
            </a:r>
            <a:endParaRPr lang="en-US" sz="1100" dirty="0"/>
          </a:p>
        </p:txBody>
      </p:sp>
      <p:pic>
        <p:nvPicPr>
          <p:cNvPr id="25" name="Timer probe message" descr="Timer probe message"/>
          <p:cNvPicPr>
            <a:picLocks noChangeAspect="1"/>
          </p:cNvPicPr>
          <p:nvPr/>
        </p:nvPicPr>
        <p:blipFill>
          <a:blip r:embed="rId4"/>
          <a:stretch>
            <a:fillRect/>
          </a:stretch>
        </p:blipFill>
        <p:spPr>
          <a:xfrm>
            <a:off x="4434840" y="3140943"/>
            <a:ext cx="4251960" cy="424153"/>
          </a:xfrm>
          <a:prstGeom prst="rect">
            <a:avLst/>
          </a:prstGeom>
        </p:spPr>
      </p:pic>
      <p:sp>
        <p:nvSpPr>
          <p:cNvPr id="26" name="Text 22"/>
          <p:cNvSpPr txBox="1"/>
          <p:nvPr/>
        </p:nvSpPr>
        <p:spPr>
          <a:xfrm>
            <a:off x="4434840" y="3610816"/>
            <a:ext cx="4251960" cy="256032"/>
          </a:xfrm>
          <a:prstGeom prst="rect">
            <a:avLst/>
          </a:prstGeom>
          <a:noFill/>
          <a:ln/>
        </p:spPr>
        <p:txBody>
          <a:bodyPr wrap="square" lIns="0" tIns="0" rIns="0" bIns="0" rtlCol="0" anchor="t"/>
          <a:lstStyle/>
          <a:p>
            <a:pPr marL="0" indent="0" algn="ctr">
              <a:buNone/>
            </a:pPr>
            <a:r>
              <a:rPr lang="en-US" sz="1100" i="1" dirty="0">
                <a:solidFill>
                  <a:schemeClr val="accent5"/>
                </a:solidFill>
              </a:rPr>
              <a:t>Overlay + insmod → probe() message in dmesg</a:t>
            </a:r>
            <a:endParaRPr lang="en-US" sz="1100" dirty="0"/>
          </a:p>
        </p:txBody>
      </p:sp>
      <p:sp>
        <p:nvSpPr>
          <p:cNvPr id="27"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Timer driver: System Timer channel 1</a:t>
            </a:r>
            <a:endParaRPr lang="en-US" sz="2800" dirty="0"/>
          </a:p>
        </p:txBody>
      </p:sp>
      <p:sp>
        <p:nvSpPr>
          <p:cNvPr id="3" name="Text 1"/>
          <p:cNvSpPr txBox="1"/>
          <p:nvPr/>
        </p:nvSpPr>
        <p:spPr>
          <a:xfrm>
            <a:off x="457200" y="109728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Overlay adds edu-timer@7e003000 under &amp;soc: reg, interrupts &lt;1 1&gt;, led-gpios GPIO17</a:t>
            </a:r>
            <a:endParaRPr lang="en-US" sz="1400" dirty="0"/>
          </a:p>
          <a:p>
            <a:pPr marL="342900" indent="-342900">
              <a:spcAft>
                <a:spcPts val="800"/>
              </a:spcAft>
              <a:buSzPct val="100000"/>
              <a:buChar char="•"/>
            </a:pPr>
            <a:r>
              <a:rPr lang="en-US" sz="1400" dirty="0">
                <a:solidFill>
                  <a:schemeClr val="tx1"/>
                </a:solidFill>
              </a:rPr>
              <a:t>ISR clears only M1 (write-1-to-clear) and re-arms C1 = previous deadline + period, so the rhythm never drifts</a:t>
            </a:r>
            <a:endParaRPr lang="en-US" sz="1400" dirty="0"/>
          </a:p>
          <a:p>
            <a:pPr marL="342900" indent="-342900">
              <a:spcAft>
                <a:spcPts val="800"/>
              </a:spcAft>
              <a:buSzPct val="100000"/>
              <a:buChar char="•"/>
            </a:pPr>
            <a:r>
              <a:rPr lang="en-US" sz="1400" dirty="0">
                <a:solidFill>
                  <a:schemeClr val="tx1"/>
                </a:solidFill>
              </a:rPr>
              <a:t>sysfs: enable, period_us, irq_count, missed, max_latency_us</a:t>
            </a:r>
            <a:endParaRPr lang="en-US" sz="1400" dirty="0"/>
          </a:p>
        </p:txBody>
      </p:sp>
      <p:sp>
        <p:nvSpPr>
          <p:cNvPr id="4" name="stat 0"/>
          <p:cNvSpPr/>
          <p:nvPr/>
        </p:nvSpPr>
        <p:spPr>
          <a:xfrm>
            <a:off x="5394960" y="1097280"/>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5" name="Text 3"/>
          <p:cNvSpPr txBox="1"/>
          <p:nvPr/>
        </p:nvSpPr>
        <p:spPr>
          <a:xfrm>
            <a:off x="5577840" y="1170432"/>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1039</a:t>
            </a:r>
            <a:endParaRPr lang="en-US" sz="3600" dirty="0"/>
          </a:p>
        </p:txBody>
      </p:sp>
      <p:sp>
        <p:nvSpPr>
          <p:cNvPr id="6" name="Text 4"/>
          <p:cNvSpPr txBox="1"/>
          <p:nvPr/>
        </p:nvSpPr>
        <p:spPr>
          <a:xfrm>
            <a:off x="7086600" y="1170432"/>
            <a:ext cx="1508760" cy="777240"/>
          </a:xfrm>
          <a:prstGeom prst="rect">
            <a:avLst/>
          </a:prstGeom>
          <a:noFill/>
          <a:ln/>
        </p:spPr>
        <p:txBody>
          <a:bodyPr wrap="square" lIns="0" tIns="0" rIns="0" bIns="0" rtlCol="0" anchor="ctr"/>
          <a:lstStyle/>
          <a:p>
            <a:pPr marL="0" indent="0">
              <a:buNone/>
            </a:pPr>
            <a:r>
              <a:rPr lang="en-US" sz="1300" dirty="0">
                <a:solidFill>
                  <a:schemeClr val="tx2"/>
                </a:solidFill>
              </a:rPr>
              <a:t>interrupts in ~1 s at 1 kHz</a:t>
            </a:r>
            <a:endParaRPr lang="en-US" sz="1300" dirty="0"/>
          </a:p>
        </p:txBody>
      </p:sp>
      <p:sp>
        <p:nvSpPr>
          <p:cNvPr id="7" name="stat 1"/>
          <p:cNvSpPr/>
          <p:nvPr/>
        </p:nvSpPr>
        <p:spPr>
          <a:xfrm>
            <a:off x="5394960" y="2212848"/>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8" name="Text 6"/>
          <p:cNvSpPr txBox="1"/>
          <p:nvPr/>
        </p:nvSpPr>
        <p:spPr>
          <a:xfrm>
            <a:off x="5577840" y="2286000"/>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0</a:t>
            </a:r>
            <a:endParaRPr lang="en-US" sz="3600" dirty="0"/>
          </a:p>
        </p:txBody>
      </p:sp>
      <p:sp>
        <p:nvSpPr>
          <p:cNvPr id="9" name="Text 7"/>
          <p:cNvSpPr txBox="1"/>
          <p:nvPr/>
        </p:nvSpPr>
        <p:spPr>
          <a:xfrm>
            <a:off x="7086600" y="2286000"/>
            <a:ext cx="1508760" cy="777240"/>
          </a:xfrm>
          <a:prstGeom prst="rect">
            <a:avLst/>
          </a:prstGeom>
          <a:noFill/>
          <a:ln/>
        </p:spPr>
        <p:txBody>
          <a:bodyPr wrap="square" lIns="0" tIns="0" rIns="0" bIns="0" rtlCol="0" anchor="ctr"/>
          <a:lstStyle/>
          <a:p>
            <a:pPr marL="0" indent="0">
              <a:buNone/>
            </a:pPr>
            <a:r>
              <a:rPr lang="en-US" sz="1300" dirty="0">
                <a:solidFill>
                  <a:schemeClr val="tx2"/>
                </a:solidFill>
              </a:rPr>
              <a:t>missed periods</a:t>
            </a:r>
            <a:endParaRPr lang="en-US" sz="1300" dirty="0"/>
          </a:p>
        </p:txBody>
      </p:sp>
      <p:sp>
        <p:nvSpPr>
          <p:cNvPr id="10" name="stat 2"/>
          <p:cNvSpPr/>
          <p:nvPr/>
        </p:nvSpPr>
        <p:spPr>
          <a:xfrm>
            <a:off x="5394960" y="3328416"/>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1" name="Text 9"/>
          <p:cNvSpPr txBox="1"/>
          <p:nvPr/>
        </p:nvSpPr>
        <p:spPr>
          <a:xfrm>
            <a:off x="5577840" y="3401568"/>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31 µs</a:t>
            </a:r>
            <a:endParaRPr lang="en-US" sz="3600" dirty="0"/>
          </a:p>
        </p:txBody>
      </p:sp>
      <p:sp>
        <p:nvSpPr>
          <p:cNvPr id="12" name="Text 10"/>
          <p:cNvSpPr txBox="1"/>
          <p:nvPr/>
        </p:nvSpPr>
        <p:spPr>
          <a:xfrm>
            <a:off x="7086600" y="3401568"/>
            <a:ext cx="1508760" cy="777240"/>
          </a:xfrm>
          <a:prstGeom prst="rect">
            <a:avLst/>
          </a:prstGeom>
          <a:noFill/>
          <a:ln/>
        </p:spPr>
        <p:txBody>
          <a:bodyPr wrap="square" lIns="0" tIns="0" rIns="0" bIns="0" rtlCol="0" anchor="ctr"/>
          <a:lstStyle/>
          <a:p>
            <a:pPr marL="0" indent="0">
              <a:buNone/>
            </a:pPr>
            <a:r>
              <a:rPr lang="en-US" sz="1300" dirty="0">
                <a:solidFill>
                  <a:schemeClr val="tx2"/>
                </a:solidFill>
              </a:rPr>
              <a:t>worst-case latency</a:t>
            </a:r>
            <a:endParaRPr lang="en-US" sz="1300" dirty="0"/>
          </a:p>
        </p:txBody>
      </p:sp>
      <p:pic>
        <p:nvPicPr>
          <p:cNvPr id="13" name="Timer interrupt lines" descr="Timer interrupt lines"/>
          <p:cNvPicPr>
            <a:picLocks noChangeAspect="1"/>
          </p:cNvPicPr>
          <p:nvPr/>
        </p:nvPicPr>
        <p:blipFill>
          <a:blip r:embed="rId3"/>
          <a:stretch>
            <a:fillRect/>
          </a:stretch>
        </p:blipFill>
        <p:spPr>
          <a:xfrm>
            <a:off x="457200" y="3324255"/>
            <a:ext cx="4572000" cy="483810"/>
          </a:xfrm>
          <a:prstGeom prst="rect">
            <a:avLst/>
          </a:prstGeom>
        </p:spPr>
      </p:pic>
      <p:sp>
        <p:nvSpPr>
          <p:cNvPr id="14" name="Text 11"/>
          <p:cNvSpPr txBox="1"/>
          <p:nvPr/>
        </p:nvSpPr>
        <p:spPr>
          <a:xfrm>
            <a:off x="457200" y="3977640"/>
            <a:ext cx="4572000" cy="256032"/>
          </a:xfrm>
          <a:prstGeom prst="rect">
            <a:avLst/>
          </a:prstGeom>
          <a:noFill/>
          <a:ln/>
        </p:spPr>
        <p:txBody>
          <a:bodyPr wrap="square" lIns="0" tIns="0" rIns="0" bIns="0" rtlCol="0" anchor="t"/>
          <a:lstStyle/>
          <a:p>
            <a:pPr marL="0" indent="0" algn="ctr">
              <a:buNone/>
            </a:pPr>
            <a:r>
              <a:rPr lang="en-US" sz="1100" i="1" dirty="0">
                <a:solidFill>
                  <a:schemeClr val="accent5"/>
                </a:solidFill>
              </a:rPr>
              <a:t>Channel 1 (this driver) and channel 3 (Linux) interrupt side by side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Timer tests on the Pi: 7 of 7 passed</a:t>
            </a:r>
            <a:endParaRPr lang="en-US" sz="2800" dirty="0"/>
          </a:p>
        </p:txBody>
      </p:sp>
      <p:pic>
        <p:nvPicPr>
          <p:cNvPr id="3" name="Timer tests terminal" descr="Timer tests terminal"/>
          <p:cNvPicPr>
            <a:picLocks noChangeAspect="1"/>
          </p:cNvPicPr>
          <p:nvPr/>
        </p:nvPicPr>
        <p:blipFill>
          <a:blip r:embed="rId3"/>
          <a:stretch>
            <a:fillRect/>
          </a:stretch>
        </p:blipFill>
        <p:spPr>
          <a:xfrm>
            <a:off x="457200" y="1051560"/>
            <a:ext cx="8229600" cy="2675936"/>
          </a:xfrm>
          <a:prstGeom prst="rect">
            <a:avLst/>
          </a:prstGeom>
        </p:spPr>
      </p:pic>
      <p:sp>
        <p:nvSpPr>
          <p:cNvPr id="4" name="Text 1"/>
          <p:cNvSpPr txBox="1"/>
          <p:nvPr/>
        </p:nvSpPr>
        <p:spPr>
          <a:xfrm>
            <a:off x="457200" y="3773216"/>
            <a:ext cx="8229600" cy="256032"/>
          </a:xfrm>
          <a:prstGeom prst="rect">
            <a:avLst/>
          </a:prstGeom>
          <a:noFill/>
          <a:ln/>
        </p:spPr>
        <p:txBody>
          <a:bodyPr wrap="square" lIns="0" tIns="0" rIns="0" bIns="0" rtlCol="0" anchor="t"/>
          <a:lstStyle/>
          <a:p>
            <a:pPr marL="0" indent="0" algn="ctr">
              <a:buNone/>
            </a:pPr>
            <a:r>
              <a:rPr lang="en-US" sz="1100" i="1" dirty="0">
                <a:solidFill>
                  <a:schemeClr val="accent5"/>
                </a:solidFill>
              </a:rPr>
              <a:t>Periodic interrupts, period change, 1 kHz statistics and rejected values</a:t>
            </a:r>
            <a:endParaRPr lang="en-US" sz="1100" dirty="0"/>
          </a:p>
        </p:txBody>
      </p:sp>
      <p:sp>
        <p:nvSpPr>
          <p:cNvPr id="5" name="chip Period 0.5 s"/>
          <p:cNvSpPr/>
          <p:nvPr/>
        </p:nvSpPr>
        <p:spPr>
          <a:xfrm>
            <a:off x="457200" y="4206240"/>
            <a:ext cx="1280160" cy="411480"/>
          </a:xfrm>
          <a:prstGeom prst="roundRect">
            <a:avLst>
              <a:gd name="adj" fmla="val 22222"/>
            </a:avLst>
          </a:prstGeom>
          <a:solidFill>
            <a:schemeClr val="bg2"/>
          </a:solidFill>
          <a:ln w="6350">
            <a:solidFill>
              <a:schemeClr val="accent6"/>
            </a:solidFill>
            <a:prstDash val="solid"/>
          </a:ln>
        </p:spPr>
      </p:sp>
      <p:pic>
        <p:nvPicPr>
          <p:cNvPr id="6" name="check Period 0.5 s" descr="preencoded.png"/>
          <p:cNvPicPr>
            <a:picLocks noChangeAspect="1"/>
          </p:cNvPicPr>
          <p:nvPr/>
        </p:nvPicPr>
        <p:blipFill>
          <a:blip r:embed="rId4"/>
          <a:stretch>
            <a:fillRect/>
          </a:stretch>
        </p:blipFill>
        <p:spPr>
          <a:xfrm>
            <a:off x="530352" y="4297680"/>
            <a:ext cx="228600" cy="228600"/>
          </a:xfrm>
          <a:prstGeom prst="rect">
            <a:avLst/>
          </a:prstGeom>
        </p:spPr>
      </p:pic>
      <p:sp>
        <p:nvSpPr>
          <p:cNvPr id="7" name="Text 3"/>
          <p:cNvSpPr txBox="1"/>
          <p:nvPr/>
        </p:nvSpPr>
        <p:spPr>
          <a:xfrm>
            <a:off x="8046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Period 0.5 s</a:t>
            </a:r>
            <a:endParaRPr lang="en-US" sz="1100" dirty="0"/>
          </a:p>
        </p:txBody>
      </p:sp>
      <p:sp>
        <p:nvSpPr>
          <p:cNvPr id="8" name="chip Period change"/>
          <p:cNvSpPr/>
          <p:nvPr/>
        </p:nvSpPr>
        <p:spPr>
          <a:xfrm>
            <a:off x="1828800" y="4206240"/>
            <a:ext cx="1280160" cy="411480"/>
          </a:xfrm>
          <a:prstGeom prst="roundRect">
            <a:avLst>
              <a:gd name="adj" fmla="val 22222"/>
            </a:avLst>
          </a:prstGeom>
          <a:solidFill>
            <a:schemeClr val="bg2"/>
          </a:solidFill>
          <a:ln w="6350">
            <a:solidFill>
              <a:schemeClr val="accent6"/>
            </a:solidFill>
            <a:prstDash val="solid"/>
          </a:ln>
        </p:spPr>
      </p:sp>
      <p:pic>
        <p:nvPicPr>
          <p:cNvPr id="9" name="check Period change" descr="preencoded.png"/>
          <p:cNvPicPr>
            <a:picLocks noChangeAspect="1"/>
          </p:cNvPicPr>
          <p:nvPr/>
        </p:nvPicPr>
        <p:blipFill>
          <a:blip r:embed="rId4"/>
          <a:stretch>
            <a:fillRect/>
          </a:stretch>
        </p:blipFill>
        <p:spPr>
          <a:xfrm>
            <a:off x="1901952" y="4297680"/>
            <a:ext cx="228600" cy="228600"/>
          </a:xfrm>
          <a:prstGeom prst="rect">
            <a:avLst/>
          </a:prstGeom>
        </p:spPr>
      </p:pic>
      <p:sp>
        <p:nvSpPr>
          <p:cNvPr id="10" name="Text 5"/>
          <p:cNvSpPr txBox="1"/>
          <p:nvPr/>
        </p:nvSpPr>
        <p:spPr>
          <a:xfrm>
            <a:off x="21762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Period change</a:t>
            </a:r>
            <a:endParaRPr lang="en-US" sz="1100" dirty="0"/>
          </a:p>
        </p:txBody>
      </p:sp>
      <p:sp>
        <p:nvSpPr>
          <p:cNvPr id="11" name="chip 1 kHz"/>
          <p:cNvSpPr/>
          <p:nvPr/>
        </p:nvSpPr>
        <p:spPr>
          <a:xfrm>
            <a:off x="3200400" y="4206240"/>
            <a:ext cx="1280160" cy="411480"/>
          </a:xfrm>
          <a:prstGeom prst="roundRect">
            <a:avLst>
              <a:gd name="adj" fmla="val 22222"/>
            </a:avLst>
          </a:prstGeom>
          <a:solidFill>
            <a:schemeClr val="bg2"/>
          </a:solidFill>
          <a:ln w="6350">
            <a:solidFill>
              <a:schemeClr val="accent6"/>
            </a:solidFill>
            <a:prstDash val="solid"/>
          </a:ln>
        </p:spPr>
      </p:sp>
      <p:pic>
        <p:nvPicPr>
          <p:cNvPr id="12" name="check 1 kHz" descr="preencoded.png"/>
          <p:cNvPicPr>
            <a:picLocks noChangeAspect="1"/>
          </p:cNvPicPr>
          <p:nvPr/>
        </p:nvPicPr>
        <p:blipFill>
          <a:blip r:embed="rId4"/>
          <a:stretch>
            <a:fillRect/>
          </a:stretch>
        </p:blipFill>
        <p:spPr>
          <a:xfrm>
            <a:off x="3273552" y="4297680"/>
            <a:ext cx="228600" cy="228600"/>
          </a:xfrm>
          <a:prstGeom prst="rect">
            <a:avLst/>
          </a:prstGeom>
        </p:spPr>
      </p:pic>
      <p:sp>
        <p:nvSpPr>
          <p:cNvPr id="13" name="Text 7"/>
          <p:cNvSpPr txBox="1"/>
          <p:nvPr/>
        </p:nvSpPr>
        <p:spPr>
          <a:xfrm>
            <a:off x="35478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1 kHz</a:t>
            </a:r>
            <a:endParaRPr lang="en-US" sz="1100" dirty="0"/>
          </a:p>
        </p:txBody>
      </p:sp>
      <p:sp>
        <p:nvSpPr>
          <p:cNvPr id="14" name="chip Invalid period"/>
          <p:cNvSpPr/>
          <p:nvPr/>
        </p:nvSpPr>
        <p:spPr>
          <a:xfrm>
            <a:off x="4572000" y="4206240"/>
            <a:ext cx="1280160" cy="411480"/>
          </a:xfrm>
          <a:prstGeom prst="roundRect">
            <a:avLst>
              <a:gd name="adj" fmla="val 22222"/>
            </a:avLst>
          </a:prstGeom>
          <a:solidFill>
            <a:schemeClr val="bg2"/>
          </a:solidFill>
          <a:ln w="6350">
            <a:solidFill>
              <a:schemeClr val="accent6"/>
            </a:solidFill>
            <a:prstDash val="solid"/>
          </a:ln>
        </p:spPr>
      </p:sp>
      <p:pic>
        <p:nvPicPr>
          <p:cNvPr id="15" name="check Invalid period" descr="preencoded.png"/>
          <p:cNvPicPr>
            <a:picLocks noChangeAspect="1"/>
          </p:cNvPicPr>
          <p:nvPr/>
        </p:nvPicPr>
        <p:blipFill>
          <a:blip r:embed="rId4"/>
          <a:stretch>
            <a:fillRect/>
          </a:stretch>
        </p:blipFill>
        <p:spPr>
          <a:xfrm>
            <a:off x="4645152" y="4297680"/>
            <a:ext cx="228600" cy="228600"/>
          </a:xfrm>
          <a:prstGeom prst="rect">
            <a:avLst/>
          </a:prstGeom>
        </p:spPr>
      </p:pic>
      <p:sp>
        <p:nvSpPr>
          <p:cNvPr id="16" name="Text 9"/>
          <p:cNvSpPr txBox="1"/>
          <p:nvPr/>
        </p:nvSpPr>
        <p:spPr>
          <a:xfrm>
            <a:off x="49194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Invalid period</a:t>
            </a:r>
            <a:endParaRPr lang="en-US" sz="1100" dirty="0"/>
          </a:p>
        </p:txBody>
      </p:sp>
      <p:sp>
        <p:nvSpPr>
          <p:cNvPr id="17" name="chip Stop"/>
          <p:cNvSpPr/>
          <p:nvPr/>
        </p:nvSpPr>
        <p:spPr>
          <a:xfrm>
            <a:off x="5943600" y="4206240"/>
            <a:ext cx="1280160" cy="411480"/>
          </a:xfrm>
          <a:prstGeom prst="roundRect">
            <a:avLst>
              <a:gd name="adj" fmla="val 22222"/>
            </a:avLst>
          </a:prstGeom>
          <a:solidFill>
            <a:schemeClr val="bg2"/>
          </a:solidFill>
          <a:ln w="6350">
            <a:solidFill>
              <a:schemeClr val="accent6"/>
            </a:solidFill>
            <a:prstDash val="solid"/>
          </a:ln>
        </p:spPr>
      </p:sp>
      <p:pic>
        <p:nvPicPr>
          <p:cNvPr id="18" name="check Stop" descr="preencoded.png"/>
          <p:cNvPicPr>
            <a:picLocks noChangeAspect="1"/>
          </p:cNvPicPr>
          <p:nvPr/>
        </p:nvPicPr>
        <p:blipFill>
          <a:blip r:embed="rId4"/>
          <a:stretch>
            <a:fillRect/>
          </a:stretch>
        </p:blipFill>
        <p:spPr>
          <a:xfrm>
            <a:off x="6016752" y="4297680"/>
            <a:ext cx="228600" cy="228600"/>
          </a:xfrm>
          <a:prstGeom prst="rect">
            <a:avLst/>
          </a:prstGeom>
        </p:spPr>
      </p:pic>
      <p:sp>
        <p:nvSpPr>
          <p:cNvPr id="19" name="Text 11"/>
          <p:cNvSpPr txBox="1"/>
          <p:nvPr/>
        </p:nvSpPr>
        <p:spPr>
          <a:xfrm>
            <a:off x="62910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Stop</a:t>
            </a:r>
            <a:endParaRPr lang="en-US" sz="1100" dirty="0"/>
          </a:p>
        </p:txBody>
      </p:sp>
      <p:sp>
        <p:nvSpPr>
          <p:cNvPr id="20" name="chip remove/probe"/>
          <p:cNvSpPr/>
          <p:nvPr/>
        </p:nvSpPr>
        <p:spPr>
          <a:xfrm>
            <a:off x="7315200" y="4206240"/>
            <a:ext cx="1280160" cy="411480"/>
          </a:xfrm>
          <a:prstGeom prst="roundRect">
            <a:avLst>
              <a:gd name="adj" fmla="val 22222"/>
            </a:avLst>
          </a:prstGeom>
          <a:solidFill>
            <a:schemeClr val="bg2"/>
          </a:solidFill>
          <a:ln w="6350">
            <a:solidFill>
              <a:schemeClr val="accent6"/>
            </a:solidFill>
            <a:prstDash val="solid"/>
          </a:ln>
        </p:spPr>
      </p:sp>
      <p:pic>
        <p:nvPicPr>
          <p:cNvPr id="21" name="check remove/probe" descr="preencoded.png"/>
          <p:cNvPicPr>
            <a:picLocks noChangeAspect="1"/>
          </p:cNvPicPr>
          <p:nvPr/>
        </p:nvPicPr>
        <p:blipFill>
          <a:blip r:embed="rId4"/>
          <a:stretch>
            <a:fillRect/>
          </a:stretch>
        </p:blipFill>
        <p:spPr>
          <a:xfrm>
            <a:off x="7388352" y="4297680"/>
            <a:ext cx="228600" cy="228600"/>
          </a:xfrm>
          <a:prstGeom prst="rect">
            <a:avLst/>
          </a:prstGeom>
        </p:spPr>
      </p:pic>
      <p:sp>
        <p:nvSpPr>
          <p:cNvPr id="22" name="Text 13"/>
          <p:cNvSpPr txBox="1"/>
          <p:nvPr/>
        </p:nvSpPr>
        <p:spPr>
          <a:xfrm>
            <a:off x="76626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remove/probe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PWM driver: replacing pwm-bcm2835</a:t>
            </a:r>
            <a:endParaRPr lang="en-US" sz="2800" dirty="0"/>
          </a:p>
        </p:txBody>
      </p:sp>
      <p:sp>
        <p:nvSpPr>
          <p:cNvPr id="3" name="Text 1"/>
          <p:cNvSpPr txBox="1"/>
          <p:nvPr/>
        </p:nvSpPr>
        <p:spPr>
          <a:xfrm>
            <a:off x="457200" y="1097280"/>
            <a:ext cx="393192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Overlay overrides the existing &amp;pwm node: new compatible, pinctrl GPIO18 ALT5, status "okay"</a:t>
            </a:r>
            <a:endParaRPr lang="en-US" sz="1400" dirty="0"/>
          </a:p>
          <a:p>
            <a:pPr marL="342900" indent="-342900">
              <a:spcAft>
                <a:spcPts val="800"/>
              </a:spcAft>
              <a:buSzPct val="100000"/>
              <a:buChar char="•"/>
            </a:pPr>
            <a:r>
              <a:rPr lang="en-US" sz="1400" dirty="0">
                <a:solidFill>
                  <a:schemeClr val="tx1"/>
                </a:solidFill>
              </a:rPr>
              <a:t>apply() converts ns to 20 ns ticks (50 MHz clock) and writes RNG, DAT and CTL</a:t>
            </a:r>
            <a:endParaRPr lang="en-US" sz="1400" dirty="0"/>
          </a:p>
          <a:p>
            <a:pPr marL="342900" indent="-342900">
              <a:spcAft>
                <a:spcPts val="800"/>
              </a:spcAft>
              <a:buSzPct val="100000"/>
              <a:buChar char="•"/>
            </a:pPr>
            <a:r>
              <a:rPr lang="en-US" sz="1400" dirty="0">
                <a:solidFill>
                  <a:schemeClr val="tx1"/>
                </a:solidFill>
              </a:rPr>
              <a:t>8 of 8 tests passed, including inverted polarity and remove()/probe()</a:t>
            </a:r>
            <a:endParaRPr lang="en-US" sz="1400" dirty="0"/>
          </a:p>
        </p:txBody>
      </p:sp>
      <p:sp>
        <p:nvSpPr>
          <p:cNvPr id="4" name="register example"/>
          <p:cNvSpPr/>
          <p:nvPr/>
        </p:nvSpPr>
        <p:spPr>
          <a:xfrm>
            <a:off x="457200" y="3108960"/>
            <a:ext cx="3931920" cy="1417320"/>
          </a:xfrm>
          <a:prstGeom prst="roundRect">
            <a:avLst>
              <a:gd name="adj" fmla="val 5161"/>
            </a:avLst>
          </a:prstGeom>
          <a:solidFill>
            <a:schemeClr val="tx2"/>
          </a:solidFill>
          <a:ln w="12700">
            <a:solidFill>
              <a:schemeClr val="tx2"/>
            </a:solidFill>
            <a:prstDash val="solid"/>
          </a:ln>
          <a:effectLst>
            <a:outerShdw blurRad="76200" dist="25400" dir="5400000" algn="bl" rotWithShape="0">
              <a:srgbClr val="000000">
                <a:alpha val="12000"/>
              </a:srgbClr>
            </a:outerShdw>
          </a:effectLst>
        </p:spPr>
      </p:sp>
      <p:sp>
        <p:nvSpPr>
          <p:cNvPr id="5" name="Text 3"/>
          <p:cNvSpPr txBox="1"/>
          <p:nvPr/>
        </p:nvSpPr>
        <p:spPr>
          <a:xfrm>
            <a:off x="640080" y="3246120"/>
            <a:ext cx="3611880" cy="1188720"/>
          </a:xfrm>
          <a:prstGeom prst="rect">
            <a:avLst/>
          </a:prstGeom>
          <a:noFill/>
          <a:ln/>
        </p:spPr>
        <p:txBody>
          <a:bodyPr wrap="square" lIns="0" tIns="0" rIns="0" bIns="0" rtlCol="0" anchor="t"/>
          <a:lstStyle/>
          <a:p>
            <a:pPr marL="0" indent="0">
              <a:spcAft>
                <a:spcPts val="600"/>
              </a:spcAft>
              <a:buNone/>
            </a:pPr>
            <a:r>
              <a:rPr lang="en-US" sz="1400" dirty="0">
                <a:solidFill>
                  <a:schemeClr val="accent6"/>
                </a:solidFill>
                <a:latin typeface="Courier New" pitchFamily="34" charset="0"/>
                <a:ea typeface="Courier New" pitchFamily="34" charset="-122"/>
                <a:cs typeface="Courier New" pitchFamily="34" charset="-120"/>
              </a:rPr>
              <a:t>period 1 ms, duty 25 %</a:t>
            </a:r>
            <a:endParaRPr lang="en-US" sz="1400" dirty="0"/>
          </a:p>
          <a:p>
            <a:pPr marL="0" indent="0">
              <a:spcAft>
                <a:spcPts val="600"/>
              </a:spcAft>
              <a:buNone/>
            </a:pPr>
            <a:r>
              <a:rPr lang="en-US" sz="1400" dirty="0">
                <a:solidFill>
                  <a:schemeClr val="bg1"/>
                </a:solidFill>
                <a:latin typeface="Courier New" pitchFamily="34" charset="0"/>
                <a:ea typeface="Courier New" pitchFamily="34" charset="-122"/>
                <a:cs typeface="Courier New" pitchFamily="34" charset="-120"/>
              </a:rPr>
              <a:t>RNG1 = 50000   DAT1 = 12500</a:t>
            </a:r>
            <a:endParaRPr lang="en-US" sz="1400" dirty="0"/>
          </a:p>
          <a:p>
            <a:pPr marL="0" indent="0">
              <a:spcAft>
                <a:spcPts val="600"/>
              </a:spcAft>
              <a:buNone/>
            </a:pPr>
            <a:r>
              <a:rPr lang="en-US" sz="1400" dirty="0">
                <a:solidFill>
                  <a:schemeClr val="bg1"/>
                </a:solidFill>
                <a:latin typeface="Courier New" pitchFamily="34" charset="0"/>
                <a:ea typeface="Courier New" pitchFamily="34" charset="-122"/>
                <a:cs typeface="Courier New" pitchFamily="34" charset="-120"/>
              </a:rPr>
              <a:t>CTL  = 0x81  (inverted: 0x91)</a:t>
            </a:r>
            <a:endParaRPr lang="en-US" sz="1400" dirty="0"/>
          </a:p>
        </p:txBody>
      </p:sp>
      <p:pic>
        <p:nvPicPr>
          <p:cNvPr id="6" name="PWM registers terminal" descr="PWM registers terminal"/>
          <p:cNvPicPr>
            <a:picLocks noChangeAspect="1"/>
          </p:cNvPicPr>
          <p:nvPr/>
        </p:nvPicPr>
        <p:blipFill>
          <a:blip r:embed="rId3"/>
          <a:stretch>
            <a:fillRect/>
          </a:stretch>
        </p:blipFill>
        <p:spPr>
          <a:xfrm>
            <a:off x="4663440" y="1097280"/>
            <a:ext cx="4023360" cy="1482850"/>
          </a:xfrm>
          <a:prstGeom prst="rect">
            <a:avLst/>
          </a:prstGeom>
        </p:spPr>
      </p:pic>
      <p:sp>
        <p:nvSpPr>
          <p:cNvPr id="7" name="Text 4"/>
          <p:cNvSpPr txBox="1"/>
          <p:nvPr/>
        </p:nvSpPr>
        <p:spPr>
          <a:xfrm>
            <a:off x="4663440" y="2625850"/>
            <a:ext cx="4023360" cy="256032"/>
          </a:xfrm>
          <a:prstGeom prst="rect">
            <a:avLst/>
          </a:prstGeom>
          <a:noFill/>
          <a:ln/>
        </p:spPr>
        <p:txBody>
          <a:bodyPr wrap="square" lIns="0" tIns="0" rIns="0" bIns="0" rtlCol="0" anchor="t"/>
          <a:lstStyle/>
          <a:p>
            <a:pPr marL="0" indent="0" algn="ctr">
              <a:buNone/>
            </a:pPr>
            <a:r>
              <a:rPr lang="en-US" sz="1100" i="1" dirty="0">
                <a:solidFill>
                  <a:schemeClr val="accent5"/>
                </a:solidFill>
              </a:rPr>
              <a:t>GPIO18 in ALT5; registers for 25 %, 100 % and 0 % duty</a:t>
            </a:r>
            <a:endParaRPr lang="en-US" sz="1100" dirty="0"/>
          </a:p>
        </p:txBody>
      </p:sp>
      <p:pic>
        <p:nvPicPr>
          <p:cNvPr id="8" name="PWM bound" descr="PWM bound"/>
          <p:cNvPicPr>
            <a:picLocks noChangeAspect="1"/>
          </p:cNvPicPr>
          <p:nvPr/>
        </p:nvPicPr>
        <p:blipFill>
          <a:blip r:embed="rId4"/>
          <a:stretch>
            <a:fillRect/>
          </a:stretch>
        </p:blipFill>
        <p:spPr>
          <a:xfrm>
            <a:off x="4663440" y="2991610"/>
            <a:ext cx="4023360" cy="864322"/>
          </a:xfrm>
          <a:prstGeom prst="rect">
            <a:avLst/>
          </a:prstGeom>
        </p:spPr>
      </p:pic>
      <p:sp>
        <p:nvSpPr>
          <p:cNvPr id="9" name="Text 5"/>
          <p:cNvSpPr txBox="1"/>
          <p:nvPr/>
        </p:nvSpPr>
        <p:spPr>
          <a:xfrm>
            <a:off x="4663440" y="3901652"/>
            <a:ext cx="4023360" cy="256032"/>
          </a:xfrm>
          <a:prstGeom prst="rect">
            <a:avLst/>
          </a:prstGeom>
          <a:noFill/>
          <a:ln/>
        </p:spPr>
        <p:txBody>
          <a:bodyPr wrap="square" lIns="0" tIns="0" rIns="0" bIns="0" rtlCol="0" anchor="t"/>
          <a:lstStyle/>
          <a:p>
            <a:pPr marL="0" indent="0" algn="ctr">
              <a:buNone/>
            </a:pPr>
            <a:r>
              <a:rPr lang="en-US" sz="1100" i="1" dirty="0">
                <a:solidFill>
                  <a:schemeClr val="accent5"/>
                </a:solidFill>
              </a:rPr>
              <a:t>Node bound to bcm_pwm_plat; stock driver not loaded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RTC driver: DS1307 over I2C1</a:t>
            </a:r>
            <a:endParaRPr lang="en-US" sz="2800" dirty="0"/>
          </a:p>
        </p:txBody>
      </p:sp>
      <p:sp>
        <p:nvSpPr>
          <p:cNvPr id="3" name="Text 1"/>
          <p:cNvSpPr txBox="1"/>
          <p:nvPr/>
        </p:nvSpPr>
        <p:spPr>
          <a:xfrm>
            <a:off x="457200" y="1097280"/>
            <a:ext cx="402336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Root DT node with phandle i2c-bus = &lt;&amp;i2c_arm&gt; and i2c-address = &lt;0x68&gt;</a:t>
            </a:r>
            <a:endParaRPr lang="en-US" sz="1400" dirty="0"/>
          </a:p>
          <a:p>
            <a:pPr marL="342900" indent="-342900">
              <a:spcAft>
                <a:spcPts val="800"/>
              </a:spcAft>
              <a:buSzPct val="100000"/>
              <a:buChar char="•"/>
            </a:pPr>
            <a:r>
              <a:rPr lang="en-US" sz="1400" dirty="0">
                <a:solidFill>
                  <a:schemeClr val="tx1"/>
                </a:solidFill>
              </a:rPr>
              <a:t>probe() returns -EPROBE_DEFER until i2c-bcm2835 is ready</a:t>
            </a:r>
            <a:endParaRPr lang="en-US" sz="1400" dirty="0"/>
          </a:p>
          <a:p>
            <a:pPr marL="342900" indent="-342900">
              <a:spcAft>
                <a:spcPts val="800"/>
              </a:spcAft>
              <a:buSzPct val="100000"/>
              <a:buChar char="•"/>
            </a:pPr>
            <a:r>
              <a:rPr lang="en-US" sz="1400" dirty="0">
                <a:solidFill>
                  <a:schemeClr val="tx1"/>
                </a:solidFill>
              </a:rPr>
              <a:t>Dummy I2C client claims 0x68 (i2cdetect shows UU)</a:t>
            </a:r>
            <a:endParaRPr lang="en-US" sz="1400" dirty="0"/>
          </a:p>
          <a:p>
            <a:pPr marL="342900" indent="-342900">
              <a:spcAft>
                <a:spcPts val="800"/>
              </a:spcAft>
              <a:buSzPct val="100000"/>
              <a:buChar char="•"/>
            </a:pPr>
            <a:r>
              <a:rPr lang="en-US" sz="1400" dirty="0">
                <a:solidFill>
                  <a:schemeClr val="tx1"/>
                </a:solidFill>
              </a:rPr>
              <a:t>RTC framework creates /dev/rtc0; 56-byte NVRAM and square-wave output via sysfs</a:t>
            </a:r>
            <a:endParaRPr lang="en-US" sz="1400" dirty="0"/>
          </a:p>
        </p:txBody>
      </p:sp>
      <p:pic>
        <p:nvPicPr>
          <p:cNvPr id="4" name="RTC bound UU" descr="RTC bound UU"/>
          <p:cNvPicPr>
            <a:picLocks noChangeAspect="1"/>
          </p:cNvPicPr>
          <p:nvPr/>
        </p:nvPicPr>
        <p:blipFill>
          <a:blip r:embed="rId3"/>
          <a:stretch>
            <a:fillRect/>
          </a:stretch>
        </p:blipFill>
        <p:spPr>
          <a:xfrm>
            <a:off x="4812453" y="1097280"/>
            <a:ext cx="3816773" cy="2103120"/>
          </a:xfrm>
          <a:prstGeom prst="rect">
            <a:avLst/>
          </a:prstGeom>
        </p:spPr>
      </p:pic>
      <p:sp>
        <p:nvSpPr>
          <p:cNvPr id="5" name="Text 2"/>
          <p:cNvSpPr txBox="1"/>
          <p:nvPr/>
        </p:nvSpPr>
        <p:spPr>
          <a:xfrm>
            <a:off x="4754880" y="3246120"/>
            <a:ext cx="3931920" cy="256032"/>
          </a:xfrm>
          <a:prstGeom prst="rect">
            <a:avLst/>
          </a:prstGeom>
          <a:noFill/>
          <a:ln/>
        </p:spPr>
        <p:txBody>
          <a:bodyPr wrap="square" lIns="0" tIns="0" rIns="0" bIns="0" rtlCol="0" anchor="t"/>
          <a:lstStyle/>
          <a:p>
            <a:pPr marL="0" indent="0" algn="ctr">
              <a:buNone/>
            </a:pPr>
            <a:r>
              <a:rPr lang="en-US" sz="1100" i="1" dirty="0">
                <a:solidFill>
                  <a:schemeClr val="accent5"/>
                </a:solidFill>
              </a:rPr>
              <a:t>Driver bound; address 0x68 claimed (UU)</a:t>
            </a:r>
            <a:endParaRPr lang="en-US" sz="1100" dirty="0"/>
          </a:p>
        </p:txBody>
      </p:sp>
      <p:pic>
        <p:nvPicPr>
          <p:cNvPr id="6" name="BCD register dump" descr="BCD register dump"/>
          <p:cNvPicPr>
            <a:picLocks noChangeAspect="1"/>
          </p:cNvPicPr>
          <p:nvPr/>
        </p:nvPicPr>
        <p:blipFill>
          <a:blip r:embed="rId4"/>
          <a:stretch>
            <a:fillRect/>
          </a:stretch>
        </p:blipFill>
        <p:spPr>
          <a:xfrm>
            <a:off x="4754880" y="3611880"/>
            <a:ext cx="3931920" cy="708324"/>
          </a:xfrm>
          <a:prstGeom prst="rect">
            <a:avLst/>
          </a:prstGeom>
        </p:spPr>
      </p:pic>
      <p:sp>
        <p:nvSpPr>
          <p:cNvPr id="7" name="Text 3"/>
          <p:cNvSpPr txBox="1"/>
          <p:nvPr/>
        </p:nvSpPr>
        <p:spPr>
          <a:xfrm>
            <a:off x="4754880" y="4365924"/>
            <a:ext cx="3931920" cy="256032"/>
          </a:xfrm>
          <a:prstGeom prst="rect">
            <a:avLst/>
          </a:prstGeom>
          <a:noFill/>
          <a:ln/>
        </p:spPr>
        <p:txBody>
          <a:bodyPr wrap="square" lIns="0" tIns="0" rIns="0" bIns="0" rtlCol="0" anchor="t"/>
          <a:lstStyle/>
          <a:p>
            <a:pPr marL="0" indent="0" algn="ctr">
              <a:buNone/>
            </a:pPr>
            <a:r>
              <a:rPr lang="en-US" sz="1100" i="1" dirty="0">
                <a:solidFill>
                  <a:schemeClr val="accent5"/>
                </a:solidFill>
              </a:rPr>
              <a:t>BCD dump 00 35 20 07 10 10 26 00 = Sat 2026-10-10 20:35:00</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RTC power-loss test: time kept by the CR2032</a:t>
            </a:r>
            <a:endParaRPr lang="en-US" sz="2800" dirty="0"/>
          </a:p>
        </p:txBody>
      </p:sp>
      <p:sp>
        <p:nvSpPr>
          <p:cNvPr id="3" name="tl dot 0"/>
          <p:cNvSpPr/>
          <p:nvPr/>
        </p:nvSpPr>
        <p:spPr>
          <a:xfrm>
            <a:off x="502920" y="1188720"/>
            <a:ext cx="274320" cy="274320"/>
          </a:xfrm>
          <a:prstGeom prst="ellipse">
            <a:avLst/>
          </a:prstGeom>
          <a:solidFill>
            <a:schemeClr val="accent1"/>
          </a:solidFill>
          <a:ln w="12700">
            <a:solidFill>
              <a:schemeClr val="bg1"/>
            </a:solidFill>
            <a:prstDash val="solid"/>
          </a:ln>
        </p:spPr>
      </p:sp>
      <p:sp>
        <p:nvSpPr>
          <p:cNvPr id="4" name="tl line 0"/>
          <p:cNvSpPr/>
          <p:nvPr/>
        </p:nvSpPr>
        <p:spPr>
          <a:xfrm>
            <a:off x="640080" y="1490472"/>
            <a:ext cx="0" cy="548640"/>
          </a:xfrm>
          <a:prstGeom prst="line">
            <a:avLst/>
          </a:prstGeom>
          <a:noFill/>
          <a:ln w="19050">
            <a:solidFill>
              <a:schemeClr val="accent6"/>
            </a:solidFill>
            <a:prstDash val="solid"/>
          </a:ln>
        </p:spPr>
      </p:sp>
      <p:sp>
        <p:nvSpPr>
          <p:cNvPr id="5" name="Text 3"/>
          <p:cNvSpPr txBox="1"/>
          <p:nvPr/>
        </p:nvSpPr>
        <p:spPr>
          <a:xfrm>
            <a:off x="960120" y="1143000"/>
            <a:ext cx="2743200" cy="292608"/>
          </a:xfrm>
          <a:prstGeom prst="rect">
            <a:avLst/>
          </a:prstGeom>
          <a:noFill/>
          <a:ln/>
        </p:spPr>
        <p:txBody>
          <a:bodyPr wrap="square" lIns="0" tIns="0" rIns="0" bIns="0" rtlCol="0" anchor="t"/>
          <a:lstStyle/>
          <a:p>
            <a:pPr marL="0" indent="0">
              <a:buNone/>
            </a:pPr>
            <a:r>
              <a:rPr lang="en-US" sz="1500" b="1" dirty="0">
                <a:solidFill>
                  <a:schemeClr val="tx2"/>
                </a:solidFill>
              </a:rPr>
              <a:t>13:15:49 UTC</a:t>
            </a:r>
            <a:endParaRPr lang="en-US" sz="1500" dirty="0"/>
          </a:p>
        </p:txBody>
      </p:sp>
      <p:sp>
        <p:nvSpPr>
          <p:cNvPr id="6" name="Text 4"/>
          <p:cNvSpPr txBox="1"/>
          <p:nvPr/>
        </p:nvSpPr>
        <p:spPr>
          <a:xfrm>
            <a:off x="960120" y="143560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rtc_test sync, then sudo poweroff</a:t>
            </a:r>
            <a:endParaRPr lang="en-US" sz="1200" dirty="0"/>
          </a:p>
        </p:txBody>
      </p:sp>
      <p:sp>
        <p:nvSpPr>
          <p:cNvPr id="7" name="tl dot 1"/>
          <p:cNvSpPr/>
          <p:nvPr/>
        </p:nvSpPr>
        <p:spPr>
          <a:xfrm>
            <a:off x="502920" y="2057400"/>
            <a:ext cx="274320" cy="274320"/>
          </a:xfrm>
          <a:prstGeom prst="ellipse">
            <a:avLst/>
          </a:prstGeom>
          <a:solidFill>
            <a:schemeClr val="accent1"/>
          </a:solidFill>
          <a:ln w="12700">
            <a:solidFill>
              <a:schemeClr val="bg1"/>
            </a:solidFill>
            <a:prstDash val="solid"/>
          </a:ln>
        </p:spPr>
      </p:sp>
      <p:sp>
        <p:nvSpPr>
          <p:cNvPr id="8" name="tl line 1"/>
          <p:cNvSpPr/>
          <p:nvPr/>
        </p:nvSpPr>
        <p:spPr>
          <a:xfrm>
            <a:off x="640080" y="2359152"/>
            <a:ext cx="0" cy="548640"/>
          </a:xfrm>
          <a:prstGeom prst="line">
            <a:avLst/>
          </a:prstGeom>
          <a:noFill/>
          <a:ln w="19050">
            <a:solidFill>
              <a:schemeClr val="accent6"/>
            </a:solidFill>
            <a:prstDash val="solid"/>
          </a:ln>
        </p:spPr>
      </p:sp>
      <p:sp>
        <p:nvSpPr>
          <p:cNvPr id="9" name="Text 7"/>
          <p:cNvSpPr txBox="1"/>
          <p:nvPr/>
        </p:nvSpPr>
        <p:spPr>
          <a:xfrm>
            <a:off x="960120" y="2011680"/>
            <a:ext cx="2743200" cy="292608"/>
          </a:xfrm>
          <a:prstGeom prst="rect">
            <a:avLst/>
          </a:prstGeom>
          <a:noFill/>
          <a:ln/>
        </p:spPr>
        <p:txBody>
          <a:bodyPr wrap="square" lIns="0" tIns="0" rIns="0" bIns="0" rtlCol="0" anchor="t"/>
          <a:lstStyle/>
          <a:p>
            <a:pPr marL="0" indent="0">
              <a:buNone/>
            </a:pPr>
            <a:r>
              <a:rPr lang="en-US" sz="1500" b="1" dirty="0">
                <a:solidFill>
                  <a:schemeClr val="tx2"/>
                </a:solidFill>
              </a:rPr>
              <a:t>&gt; 10 min</a:t>
            </a:r>
            <a:endParaRPr lang="en-US" sz="1500" dirty="0"/>
          </a:p>
        </p:txBody>
      </p:sp>
      <p:sp>
        <p:nvSpPr>
          <p:cNvPr id="10" name="Text 8"/>
          <p:cNvSpPr txBox="1"/>
          <p:nvPr/>
        </p:nvSpPr>
        <p:spPr>
          <a:xfrm>
            <a:off x="960120" y="230428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Pi unplugged; DS1307 runs on the battery</a:t>
            </a:r>
            <a:endParaRPr lang="en-US" sz="1200" dirty="0"/>
          </a:p>
        </p:txBody>
      </p:sp>
      <p:sp>
        <p:nvSpPr>
          <p:cNvPr id="11" name="tl dot 2"/>
          <p:cNvSpPr/>
          <p:nvPr/>
        </p:nvSpPr>
        <p:spPr>
          <a:xfrm>
            <a:off x="502920" y="2926080"/>
            <a:ext cx="274320" cy="274320"/>
          </a:xfrm>
          <a:prstGeom prst="ellipse">
            <a:avLst/>
          </a:prstGeom>
          <a:solidFill>
            <a:schemeClr val="accent1"/>
          </a:solidFill>
          <a:ln w="12700">
            <a:solidFill>
              <a:schemeClr val="bg1"/>
            </a:solidFill>
            <a:prstDash val="solid"/>
          </a:ln>
        </p:spPr>
      </p:sp>
      <p:sp>
        <p:nvSpPr>
          <p:cNvPr id="12" name="tl line 2"/>
          <p:cNvSpPr/>
          <p:nvPr/>
        </p:nvSpPr>
        <p:spPr>
          <a:xfrm>
            <a:off x="640080" y="3227832"/>
            <a:ext cx="0" cy="548640"/>
          </a:xfrm>
          <a:prstGeom prst="line">
            <a:avLst/>
          </a:prstGeom>
          <a:noFill/>
          <a:ln w="19050">
            <a:solidFill>
              <a:schemeClr val="accent6"/>
            </a:solidFill>
            <a:prstDash val="solid"/>
          </a:ln>
        </p:spPr>
      </p:sp>
      <p:sp>
        <p:nvSpPr>
          <p:cNvPr id="13" name="Text 11"/>
          <p:cNvSpPr txBox="1"/>
          <p:nvPr/>
        </p:nvSpPr>
        <p:spPr>
          <a:xfrm>
            <a:off x="960120" y="2880360"/>
            <a:ext cx="2743200" cy="292608"/>
          </a:xfrm>
          <a:prstGeom prst="rect">
            <a:avLst/>
          </a:prstGeom>
          <a:noFill/>
          <a:ln/>
        </p:spPr>
        <p:txBody>
          <a:bodyPr wrap="square" lIns="0" tIns="0" rIns="0" bIns="0" rtlCol="0" anchor="t"/>
          <a:lstStyle/>
          <a:p>
            <a:pPr marL="0" indent="0">
              <a:buNone/>
            </a:pPr>
            <a:r>
              <a:rPr lang="en-US" sz="1500" b="1" dirty="0">
                <a:solidFill>
                  <a:schemeClr val="tx2"/>
                </a:solidFill>
              </a:rPr>
              <a:t>Boot + 44 s</a:t>
            </a:r>
            <a:endParaRPr lang="en-US" sz="1500" dirty="0"/>
          </a:p>
        </p:txBody>
      </p:sp>
      <p:sp>
        <p:nvSpPr>
          <p:cNvPr id="14" name="Text 12"/>
          <p:cNvSpPr txBox="1"/>
          <p:nvPr/>
        </p:nvSpPr>
        <p:spPr>
          <a:xfrm>
            <a:off x="960120" y="317296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Driver reads 13:26:27 with CH = 0; kernel sets the clock (hctosys)</a:t>
            </a:r>
            <a:endParaRPr lang="en-US" sz="1200" dirty="0"/>
          </a:p>
        </p:txBody>
      </p:sp>
      <p:sp>
        <p:nvSpPr>
          <p:cNvPr id="15" name="tl dot 3"/>
          <p:cNvSpPr/>
          <p:nvPr/>
        </p:nvSpPr>
        <p:spPr>
          <a:xfrm>
            <a:off x="502920" y="3794760"/>
            <a:ext cx="274320" cy="274320"/>
          </a:xfrm>
          <a:prstGeom prst="ellipse">
            <a:avLst/>
          </a:prstGeom>
          <a:solidFill>
            <a:schemeClr val="accent2"/>
          </a:solidFill>
          <a:ln w="12700">
            <a:solidFill>
              <a:schemeClr val="bg1"/>
            </a:solidFill>
            <a:prstDash val="solid"/>
          </a:ln>
        </p:spPr>
      </p:sp>
      <p:sp>
        <p:nvSpPr>
          <p:cNvPr id="16" name="Text 14"/>
          <p:cNvSpPr txBox="1"/>
          <p:nvPr/>
        </p:nvSpPr>
        <p:spPr>
          <a:xfrm>
            <a:off x="960120" y="3749040"/>
            <a:ext cx="2743200" cy="292608"/>
          </a:xfrm>
          <a:prstGeom prst="rect">
            <a:avLst/>
          </a:prstGeom>
          <a:noFill/>
          <a:ln/>
        </p:spPr>
        <p:txBody>
          <a:bodyPr wrap="square" lIns="0" tIns="0" rIns="0" bIns="0" rtlCol="0" anchor="t"/>
          <a:lstStyle/>
          <a:p>
            <a:pPr marL="0" indent="0">
              <a:buNone/>
            </a:pPr>
            <a:r>
              <a:rPr lang="en-US" sz="1500" b="1" dirty="0">
                <a:solidFill>
                  <a:schemeClr val="tx2"/>
                </a:solidFill>
              </a:rPr>
              <a:t>After NTP</a:t>
            </a:r>
            <a:endParaRPr lang="en-US" sz="1500" dirty="0"/>
          </a:p>
        </p:txBody>
      </p:sp>
      <p:sp>
        <p:nvSpPr>
          <p:cNvPr id="17" name="Text 15"/>
          <p:cNvSpPr txBox="1"/>
          <p:nvPr/>
        </p:nvSpPr>
        <p:spPr>
          <a:xfrm>
            <a:off x="960120" y="404164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Offset 0 s; NVRAM string still present</a:t>
            </a:r>
            <a:endParaRPr lang="en-US" sz="1200" dirty="0"/>
          </a:p>
        </p:txBody>
      </p:sp>
      <p:pic>
        <p:nvPicPr>
          <p:cNvPr id="18" name="Power-loss terminal" descr="Power-loss terminal"/>
          <p:cNvPicPr>
            <a:picLocks noChangeAspect="1"/>
          </p:cNvPicPr>
          <p:nvPr/>
        </p:nvPicPr>
        <p:blipFill>
          <a:blip r:embed="rId3"/>
          <a:stretch>
            <a:fillRect/>
          </a:stretch>
        </p:blipFill>
        <p:spPr>
          <a:xfrm>
            <a:off x="4160520" y="1051560"/>
            <a:ext cx="4526280" cy="3225284"/>
          </a:xfrm>
          <a:prstGeom prst="rect">
            <a:avLst/>
          </a:prstGeom>
        </p:spPr>
      </p:pic>
      <p:sp>
        <p:nvSpPr>
          <p:cNvPr id="19" name="Text 16"/>
          <p:cNvSpPr txBox="1"/>
          <p:nvPr/>
        </p:nvSpPr>
        <p:spPr>
          <a:xfrm>
            <a:off x="4160520" y="4322564"/>
            <a:ext cx="4526280" cy="256032"/>
          </a:xfrm>
          <a:prstGeom prst="rect">
            <a:avLst/>
          </a:prstGeom>
          <a:noFill/>
          <a:ln/>
        </p:spPr>
        <p:txBody>
          <a:bodyPr wrap="square" lIns="0" tIns="0" rIns="0" bIns="0" rtlCol="0" anchor="t"/>
          <a:lstStyle/>
          <a:p>
            <a:pPr marL="0" indent="0" algn="ctr">
              <a:buNone/>
            </a:pPr>
            <a:r>
              <a:rPr lang="en-US" sz="1100" i="1" dirty="0">
                <a:solidFill>
                  <a:schemeClr val="accent5"/>
                </a:solidFill>
              </a:rPr>
              <a:t>Time restored from the DS1307 at boot; NVRAM retained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All 25 planned tests passed</a:t>
            </a:r>
            <a:endParaRPr lang="en-US" sz="2800" dirty="0"/>
          </a:p>
        </p:txBody>
      </p:sp>
      <p:sp>
        <p:nvSpPr>
          <p:cNvPr id="3" name="Timer summary"/>
          <p:cNvSpPr/>
          <p:nvPr/>
        </p:nvSpPr>
        <p:spPr>
          <a:xfrm>
            <a:off x="457200"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imer sum circle"/>
          <p:cNvSpPr/>
          <p:nvPr/>
        </p:nvSpPr>
        <p:spPr>
          <a:xfrm>
            <a:off x="1440180" y="1325880"/>
            <a:ext cx="640080" cy="640080"/>
          </a:xfrm>
          <a:prstGeom prst="ellipse">
            <a:avLst/>
          </a:prstGeom>
          <a:solidFill>
            <a:schemeClr val="accent3"/>
          </a:solidFill>
          <a:ln w="12700">
            <a:solidFill>
              <a:schemeClr val="accent3"/>
            </a:solidFill>
            <a:prstDash val="solid"/>
          </a:ln>
        </p:spPr>
      </p:sp>
      <p:pic>
        <p:nvPicPr>
          <p:cNvPr id="5" name="Timer sum icon" descr="preencoded.png"/>
          <p:cNvPicPr>
            <a:picLocks noChangeAspect="1"/>
          </p:cNvPicPr>
          <p:nvPr/>
        </p:nvPicPr>
        <p:blipFill>
          <a:blip r:embed="rId3"/>
          <a:stretch>
            <a:fillRect/>
          </a:stretch>
        </p:blipFill>
        <p:spPr>
          <a:xfrm>
            <a:off x="1600200" y="1485900"/>
            <a:ext cx="320040" cy="320040"/>
          </a:xfrm>
          <a:prstGeom prst="rect">
            <a:avLst/>
          </a:prstGeom>
        </p:spPr>
      </p:pic>
      <p:sp>
        <p:nvSpPr>
          <p:cNvPr id="6" name="Text 3"/>
          <p:cNvSpPr txBox="1"/>
          <p:nvPr/>
        </p:nvSpPr>
        <p:spPr>
          <a:xfrm>
            <a:off x="457200"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3"/>
                </a:solidFill>
                <a:latin typeface="Cambria" pitchFamily="34" charset="0"/>
                <a:ea typeface="Cambria" pitchFamily="34" charset="-122"/>
                <a:cs typeface="Cambria" pitchFamily="34" charset="-120"/>
              </a:rPr>
              <a:t>7 / 7</a:t>
            </a:r>
            <a:endParaRPr lang="en-US" sz="4400" dirty="0"/>
          </a:p>
        </p:txBody>
      </p:sp>
      <p:sp>
        <p:nvSpPr>
          <p:cNvPr id="7" name="Text 4"/>
          <p:cNvSpPr txBox="1"/>
          <p:nvPr/>
        </p:nvSpPr>
        <p:spPr>
          <a:xfrm>
            <a:off x="457200"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Timer tests passed</a:t>
            </a:r>
            <a:endParaRPr lang="en-US" sz="1500" dirty="0"/>
          </a:p>
        </p:txBody>
      </p:sp>
      <p:sp>
        <p:nvSpPr>
          <p:cNvPr id="8" name="Text 5"/>
          <p:cNvSpPr txBox="1"/>
          <p:nvPr/>
        </p:nvSpPr>
        <p:spPr>
          <a:xfrm>
            <a:off x="685800"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1 kHz, 0 missed, 31 µs worst-case latency</a:t>
            </a:r>
            <a:endParaRPr lang="en-US" sz="1300" dirty="0"/>
          </a:p>
        </p:txBody>
      </p:sp>
      <p:sp>
        <p:nvSpPr>
          <p:cNvPr id="9" name="PWM summary"/>
          <p:cNvSpPr/>
          <p:nvPr/>
        </p:nvSpPr>
        <p:spPr>
          <a:xfrm>
            <a:off x="3273552"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0" name="PWM sum circle"/>
          <p:cNvSpPr/>
          <p:nvPr/>
        </p:nvSpPr>
        <p:spPr>
          <a:xfrm>
            <a:off x="4256532" y="1325880"/>
            <a:ext cx="640080" cy="640080"/>
          </a:xfrm>
          <a:prstGeom prst="ellipse">
            <a:avLst/>
          </a:prstGeom>
          <a:solidFill>
            <a:schemeClr val="accent2"/>
          </a:solidFill>
          <a:ln w="12700">
            <a:solidFill>
              <a:schemeClr val="accent2"/>
            </a:solidFill>
            <a:prstDash val="solid"/>
          </a:ln>
        </p:spPr>
      </p:sp>
      <p:pic>
        <p:nvPicPr>
          <p:cNvPr id="11" name="PWM sum icon" descr="preencoded.png"/>
          <p:cNvPicPr>
            <a:picLocks noChangeAspect="1"/>
          </p:cNvPicPr>
          <p:nvPr/>
        </p:nvPicPr>
        <p:blipFill>
          <a:blip r:embed="rId4"/>
          <a:stretch>
            <a:fillRect/>
          </a:stretch>
        </p:blipFill>
        <p:spPr>
          <a:xfrm>
            <a:off x="4416552" y="1485900"/>
            <a:ext cx="320040" cy="320040"/>
          </a:xfrm>
          <a:prstGeom prst="rect">
            <a:avLst/>
          </a:prstGeom>
        </p:spPr>
      </p:pic>
      <p:sp>
        <p:nvSpPr>
          <p:cNvPr id="12" name="Text 8"/>
          <p:cNvSpPr txBox="1"/>
          <p:nvPr/>
        </p:nvSpPr>
        <p:spPr>
          <a:xfrm>
            <a:off x="3273552"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2"/>
                </a:solidFill>
                <a:latin typeface="Cambria" pitchFamily="34" charset="0"/>
                <a:ea typeface="Cambria" pitchFamily="34" charset="-122"/>
                <a:cs typeface="Cambria" pitchFamily="34" charset="-120"/>
              </a:rPr>
              <a:t>8 / 8</a:t>
            </a:r>
            <a:endParaRPr lang="en-US" sz="4400" dirty="0"/>
          </a:p>
        </p:txBody>
      </p:sp>
      <p:sp>
        <p:nvSpPr>
          <p:cNvPr id="13" name="Text 9"/>
          <p:cNvSpPr txBox="1"/>
          <p:nvPr/>
        </p:nvSpPr>
        <p:spPr>
          <a:xfrm>
            <a:off x="3273552"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PWM tests passed</a:t>
            </a:r>
            <a:endParaRPr lang="en-US" sz="1500" dirty="0"/>
          </a:p>
        </p:txBody>
      </p:sp>
      <p:sp>
        <p:nvSpPr>
          <p:cNvPr id="14" name="Text 10"/>
          <p:cNvSpPr txBox="1"/>
          <p:nvPr/>
        </p:nvSpPr>
        <p:spPr>
          <a:xfrm>
            <a:off x="3502152"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Duty and polarity match the registers and the LED</a:t>
            </a:r>
            <a:endParaRPr lang="en-US" sz="1300" dirty="0"/>
          </a:p>
        </p:txBody>
      </p:sp>
      <p:sp>
        <p:nvSpPr>
          <p:cNvPr id="15" name="RTC summary"/>
          <p:cNvSpPr/>
          <p:nvPr/>
        </p:nvSpPr>
        <p:spPr>
          <a:xfrm>
            <a:off x="6089904"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6" name="RTC sum circle"/>
          <p:cNvSpPr/>
          <p:nvPr/>
        </p:nvSpPr>
        <p:spPr>
          <a:xfrm>
            <a:off x="7072884" y="1325880"/>
            <a:ext cx="640080" cy="640080"/>
          </a:xfrm>
          <a:prstGeom prst="ellipse">
            <a:avLst/>
          </a:prstGeom>
          <a:solidFill>
            <a:schemeClr val="accent1"/>
          </a:solidFill>
          <a:ln w="12700">
            <a:solidFill>
              <a:schemeClr val="accent1"/>
            </a:solidFill>
            <a:prstDash val="solid"/>
          </a:ln>
        </p:spPr>
      </p:sp>
      <p:pic>
        <p:nvPicPr>
          <p:cNvPr id="17" name="RTC sum icon" descr="preencoded.png"/>
          <p:cNvPicPr>
            <a:picLocks noChangeAspect="1"/>
          </p:cNvPicPr>
          <p:nvPr/>
        </p:nvPicPr>
        <p:blipFill>
          <a:blip r:embed="rId5"/>
          <a:stretch>
            <a:fillRect/>
          </a:stretch>
        </p:blipFill>
        <p:spPr>
          <a:xfrm>
            <a:off x="7232904" y="1485900"/>
            <a:ext cx="320040" cy="320040"/>
          </a:xfrm>
          <a:prstGeom prst="rect">
            <a:avLst/>
          </a:prstGeom>
        </p:spPr>
      </p:pic>
      <p:sp>
        <p:nvSpPr>
          <p:cNvPr id="18" name="Text 13"/>
          <p:cNvSpPr txBox="1"/>
          <p:nvPr/>
        </p:nvSpPr>
        <p:spPr>
          <a:xfrm>
            <a:off x="6089904"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1"/>
                </a:solidFill>
                <a:latin typeface="Cambria" pitchFamily="34" charset="0"/>
                <a:ea typeface="Cambria" pitchFamily="34" charset="-122"/>
                <a:cs typeface="Cambria" pitchFamily="34" charset="-120"/>
              </a:rPr>
              <a:t>10 / 10</a:t>
            </a:r>
            <a:endParaRPr lang="en-US" sz="4400" dirty="0"/>
          </a:p>
        </p:txBody>
      </p:sp>
      <p:sp>
        <p:nvSpPr>
          <p:cNvPr id="19" name="Text 14"/>
          <p:cNvSpPr txBox="1"/>
          <p:nvPr/>
        </p:nvSpPr>
        <p:spPr>
          <a:xfrm>
            <a:off x="6089904"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RTC tests passed</a:t>
            </a:r>
            <a:endParaRPr lang="en-US" sz="1500" dirty="0"/>
          </a:p>
        </p:txBody>
      </p:sp>
      <p:sp>
        <p:nvSpPr>
          <p:cNvPr id="20" name="Text 15"/>
          <p:cNvSpPr txBox="1"/>
          <p:nvPr/>
        </p:nvSpPr>
        <p:spPr>
          <a:xfrm>
            <a:off x="6318504"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Rollover, leap year, range, NVRAM, power loss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Demonstration videos</a:t>
            </a:r>
            <a:endParaRPr lang="en-US" sz="2800" dirty="0"/>
          </a:p>
        </p:txBody>
      </p:sp>
      <p:pic>
        <p:nvPicPr>
          <p:cNvPr id="3" name="video 1" descr="video 1"/>
          <p:cNvPicPr>
            <a:picLocks noChangeAspect="1"/>
          </p:cNvPicPr>
          <p:nvPr/>
        </p:nvPicPr>
        <p:blipFill>
          <a:blip r:embed="rId3"/>
          <a:stretch>
            <a:fillRect/>
          </a:stretch>
        </p:blipFill>
        <p:spPr>
          <a:xfrm>
            <a:off x="457200" y="1102995"/>
            <a:ext cx="2606040" cy="1954530"/>
          </a:xfrm>
          <a:prstGeom prst="rect">
            <a:avLst/>
          </a:prstGeom>
        </p:spPr>
      </p:pic>
      <p:pic>
        <p:nvPicPr>
          <p:cNvPr id="4" name="play 1" descr="preencoded.png"/>
          <p:cNvPicPr>
            <a:picLocks noChangeAspect="1"/>
          </p:cNvPicPr>
          <p:nvPr/>
        </p:nvPicPr>
        <p:blipFill>
          <a:blip r:embed="rId4"/>
          <a:stretch>
            <a:fillRect/>
          </a:stretch>
        </p:blipFill>
        <p:spPr>
          <a:xfrm>
            <a:off x="1485900" y="1805940"/>
            <a:ext cx="548640" cy="548640"/>
          </a:xfrm>
          <a:prstGeom prst="rect">
            <a:avLst/>
          </a:prstGeom>
        </p:spPr>
      </p:pic>
      <p:sp>
        <p:nvSpPr>
          <p:cNvPr id="5" name="Text 1"/>
          <p:cNvSpPr txBox="1"/>
          <p:nvPr/>
        </p:nvSpPr>
        <p:spPr>
          <a:xfrm>
            <a:off x="457200"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1</a:t>
            </a:r>
            <a:endParaRPr lang="en-US" sz="1500" dirty="0"/>
          </a:p>
        </p:txBody>
      </p:sp>
      <p:sp>
        <p:nvSpPr>
          <p:cNvPr id="6" name="Text 2"/>
          <p:cNvSpPr txBox="1"/>
          <p:nvPr/>
        </p:nvSpPr>
        <p:spPr>
          <a:xfrm>
            <a:off x="457200"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Timer: LED blinks at the set period</a:t>
            </a:r>
            <a:endParaRPr lang="en-US" sz="1300" dirty="0"/>
          </a:p>
        </p:txBody>
      </p:sp>
      <p:sp>
        <p:nvSpPr>
          <p:cNvPr id="7" name="Text 3"/>
          <p:cNvSpPr txBox="1"/>
          <p:nvPr/>
        </p:nvSpPr>
        <p:spPr>
          <a:xfrm>
            <a:off x="457200" y="3886199"/>
            <a:ext cx="2606040" cy="728189"/>
          </a:xfrm>
          <a:prstGeom prst="rect">
            <a:avLst/>
          </a:prstGeom>
          <a:noFill/>
          <a:ln/>
        </p:spPr>
        <p:txBody>
          <a:bodyPr wrap="square" lIns="0" tIns="0" rIns="0" bIns="0" rtlCol="0" anchor="t"/>
          <a:lstStyle/>
          <a:p>
            <a:pPr marL="0" indent="0">
              <a:buNone/>
            </a:pPr>
            <a:r>
              <a:rPr lang="en-US" sz="1200" dirty="0">
                <a:solidFill>
                  <a:schemeClr val="accent3"/>
                </a:solidFill>
              </a:rPr>
              <a:t>YouTube: </a:t>
            </a:r>
            <a:r>
              <a:rPr lang="en-US" sz="1200" dirty="0">
                <a:solidFill>
                  <a:schemeClr val="accent3"/>
                </a:solidFill>
                <a:hlinkClick r:id="rId5"/>
              </a:rPr>
              <a:t>https://www.youtube.com/watch?v=U_tcdEtAESg</a:t>
            </a:r>
            <a:endParaRPr lang="en-US" sz="1200" dirty="0"/>
          </a:p>
        </p:txBody>
      </p:sp>
      <p:pic>
        <p:nvPicPr>
          <p:cNvPr id="8" name="video 2" descr="video 2"/>
          <p:cNvPicPr>
            <a:picLocks noChangeAspect="1"/>
          </p:cNvPicPr>
          <p:nvPr/>
        </p:nvPicPr>
        <p:blipFill>
          <a:blip r:embed="rId6"/>
          <a:stretch>
            <a:fillRect/>
          </a:stretch>
        </p:blipFill>
        <p:spPr>
          <a:xfrm>
            <a:off x="3273552" y="1102995"/>
            <a:ext cx="2606040" cy="1954530"/>
          </a:xfrm>
          <a:prstGeom prst="rect">
            <a:avLst/>
          </a:prstGeom>
        </p:spPr>
      </p:pic>
      <p:pic>
        <p:nvPicPr>
          <p:cNvPr id="9" name="play 2" descr="preencoded.png"/>
          <p:cNvPicPr>
            <a:picLocks noChangeAspect="1"/>
          </p:cNvPicPr>
          <p:nvPr/>
        </p:nvPicPr>
        <p:blipFill>
          <a:blip r:embed="rId4"/>
          <a:stretch>
            <a:fillRect/>
          </a:stretch>
        </p:blipFill>
        <p:spPr>
          <a:xfrm>
            <a:off x="4302252" y="1805940"/>
            <a:ext cx="548640" cy="548640"/>
          </a:xfrm>
          <a:prstGeom prst="rect">
            <a:avLst/>
          </a:prstGeom>
        </p:spPr>
      </p:pic>
      <p:sp>
        <p:nvSpPr>
          <p:cNvPr id="10" name="Text 4"/>
          <p:cNvSpPr txBox="1"/>
          <p:nvPr/>
        </p:nvSpPr>
        <p:spPr>
          <a:xfrm>
            <a:off x="3273552"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2</a:t>
            </a:r>
            <a:endParaRPr lang="en-US" sz="1500" dirty="0"/>
          </a:p>
        </p:txBody>
      </p:sp>
      <p:sp>
        <p:nvSpPr>
          <p:cNvPr id="11" name="Text 5"/>
          <p:cNvSpPr txBox="1"/>
          <p:nvPr/>
        </p:nvSpPr>
        <p:spPr>
          <a:xfrm>
            <a:off x="3273552"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PWM: brightness and breathing loop</a:t>
            </a:r>
            <a:endParaRPr lang="en-US" sz="1300" dirty="0"/>
          </a:p>
        </p:txBody>
      </p:sp>
      <p:sp>
        <p:nvSpPr>
          <p:cNvPr id="12" name="Text 6"/>
          <p:cNvSpPr txBox="1"/>
          <p:nvPr/>
        </p:nvSpPr>
        <p:spPr>
          <a:xfrm>
            <a:off x="3273552" y="3886200"/>
            <a:ext cx="2606040" cy="320040"/>
          </a:xfrm>
          <a:prstGeom prst="rect">
            <a:avLst/>
          </a:prstGeom>
          <a:noFill/>
          <a:ln/>
        </p:spPr>
        <p:txBody>
          <a:bodyPr wrap="square" lIns="0" tIns="0" rIns="0" bIns="0" rtlCol="0" anchor="t"/>
          <a:lstStyle/>
          <a:p>
            <a:pPr marL="0" indent="0">
              <a:buNone/>
            </a:pPr>
            <a:r>
              <a:rPr lang="en-US" sz="1200" dirty="0">
                <a:solidFill>
                  <a:schemeClr val="accent3"/>
                </a:solidFill>
              </a:rPr>
              <a:t>YouTube: </a:t>
            </a:r>
            <a:r>
              <a:rPr lang="en-US" sz="1200" dirty="0">
                <a:solidFill>
                  <a:schemeClr val="accent3"/>
                </a:solidFill>
                <a:hlinkClick r:id="rId7"/>
              </a:rPr>
              <a:t>https://www.youtube.com/watch?v=Ros7_78uBJg</a:t>
            </a:r>
            <a:endParaRPr lang="en-US" sz="1200" dirty="0"/>
          </a:p>
        </p:txBody>
      </p:sp>
      <p:pic>
        <p:nvPicPr>
          <p:cNvPr id="13" name="video 3" descr="video 3"/>
          <p:cNvPicPr>
            <a:picLocks noChangeAspect="1"/>
          </p:cNvPicPr>
          <p:nvPr/>
        </p:nvPicPr>
        <p:blipFill>
          <a:blip r:embed="rId8"/>
          <a:stretch>
            <a:fillRect/>
          </a:stretch>
        </p:blipFill>
        <p:spPr>
          <a:xfrm>
            <a:off x="6089904" y="1102995"/>
            <a:ext cx="2606040" cy="1954530"/>
          </a:xfrm>
          <a:prstGeom prst="rect">
            <a:avLst/>
          </a:prstGeom>
        </p:spPr>
      </p:pic>
      <p:pic>
        <p:nvPicPr>
          <p:cNvPr id="14" name="play 3" descr="preencoded.png"/>
          <p:cNvPicPr>
            <a:picLocks noChangeAspect="1"/>
          </p:cNvPicPr>
          <p:nvPr/>
        </p:nvPicPr>
        <p:blipFill>
          <a:blip r:embed="rId4"/>
          <a:stretch>
            <a:fillRect/>
          </a:stretch>
        </p:blipFill>
        <p:spPr>
          <a:xfrm>
            <a:off x="7118604" y="1805940"/>
            <a:ext cx="548640" cy="548640"/>
          </a:xfrm>
          <a:prstGeom prst="rect">
            <a:avLst/>
          </a:prstGeom>
        </p:spPr>
      </p:pic>
      <p:sp>
        <p:nvSpPr>
          <p:cNvPr id="15" name="Text 7"/>
          <p:cNvSpPr txBox="1"/>
          <p:nvPr/>
        </p:nvSpPr>
        <p:spPr>
          <a:xfrm>
            <a:off x="6089904"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3</a:t>
            </a:r>
            <a:endParaRPr lang="en-US" sz="1500" dirty="0"/>
          </a:p>
        </p:txBody>
      </p:sp>
      <p:sp>
        <p:nvSpPr>
          <p:cNvPr id="16" name="Text 8"/>
          <p:cNvSpPr txBox="1"/>
          <p:nvPr/>
        </p:nvSpPr>
        <p:spPr>
          <a:xfrm>
            <a:off x="6089904"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RTC: power-loss test</a:t>
            </a:r>
            <a:endParaRPr lang="en-US" sz="1300" dirty="0"/>
          </a:p>
        </p:txBody>
      </p:sp>
      <p:sp>
        <p:nvSpPr>
          <p:cNvPr id="17" name="Text 9"/>
          <p:cNvSpPr txBox="1"/>
          <p:nvPr/>
        </p:nvSpPr>
        <p:spPr>
          <a:xfrm>
            <a:off x="6089904" y="3886200"/>
            <a:ext cx="2606040" cy="320040"/>
          </a:xfrm>
          <a:prstGeom prst="rect">
            <a:avLst/>
          </a:prstGeom>
          <a:noFill/>
          <a:ln/>
        </p:spPr>
        <p:txBody>
          <a:bodyPr wrap="square" lIns="0" tIns="0" rIns="0" bIns="0" rtlCol="0" anchor="t"/>
          <a:lstStyle/>
          <a:p>
            <a:pPr marL="0" indent="0">
              <a:buNone/>
            </a:pPr>
            <a:r>
              <a:rPr lang="en-US" sz="1200" dirty="0">
                <a:solidFill>
                  <a:schemeClr val="accent3"/>
                </a:solidFill>
              </a:rPr>
              <a:t>YouTube:</a:t>
            </a:r>
            <a:r>
              <a:rPr lang="en-US" sz="1200" dirty="0">
                <a:solidFill>
                  <a:schemeClr val="accent3"/>
                </a:solidFill>
                <a:hlinkClick r:id="rId9"/>
              </a:rPr>
              <a:t> https://www.youtube.com/watch?v=DzwE6CQ0-nE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Limitations and future work</a:t>
            </a:r>
            <a:endParaRPr lang="en-US" sz="2800" dirty="0"/>
          </a:p>
        </p:txBody>
      </p:sp>
      <p:sp>
        <p:nvSpPr>
          <p:cNvPr id="3" name="limitations card"/>
          <p:cNvSpPr/>
          <p:nvPr/>
        </p:nvSpPr>
        <p:spPr>
          <a:xfrm>
            <a:off x="457200" y="1097280"/>
            <a:ext cx="3977640" cy="2926080"/>
          </a:xfrm>
          <a:prstGeom prst="roundRect">
            <a:avLst>
              <a:gd name="adj" fmla="val 25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limitations circle"/>
          <p:cNvSpPr/>
          <p:nvPr/>
        </p:nvSpPr>
        <p:spPr>
          <a:xfrm>
            <a:off x="640080" y="1280160"/>
            <a:ext cx="502920" cy="502920"/>
          </a:xfrm>
          <a:prstGeom prst="ellipse">
            <a:avLst/>
          </a:prstGeom>
          <a:solidFill>
            <a:schemeClr val="accent4"/>
          </a:solidFill>
          <a:ln w="12700">
            <a:solidFill>
              <a:schemeClr val="accent4"/>
            </a:solidFill>
            <a:prstDash val="solid"/>
          </a:ln>
        </p:spPr>
      </p:sp>
      <p:pic>
        <p:nvPicPr>
          <p:cNvPr id="5" name="limitations icon" descr="preencoded.png"/>
          <p:cNvPicPr>
            <a:picLocks noChangeAspect="1"/>
          </p:cNvPicPr>
          <p:nvPr/>
        </p:nvPicPr>
        <p:blipFill>
          <a:blip r:embed="rId3"/>
          <a:stretch>
            <a:fillRect/>
          </a:stretch>
        </p:blipFill>
        <p:spPr>
          <a:xfrm>
            <a:off x="765810" y="1405890"/>
            <a:ext cx="251460" cy="251460"/>
          </a:xfrm>
          <a:prstGeom prst="rect">
            <a:avLst/>
          </a:prstGeom>
        </p:spPr>
      </p:pic>
      <p:sp>
        <p:nvSpPr>
          <p:cNvPr id="6" name="Text 3"/>
          <p:cNvSpPr txBox="1"/>
          <p:nvPr/>
        </p:nvSpPr>
        <p:spPr>
          <a:xfrm>
            <a:off x="1280160" y="1325880"/>
            <a:ext cx="2926080" cy="411480"/>
          </a:xfrm>
          <a:prstGeom prst="rect">
            <a:avLst/>
          </a:prstGeom>
          <a:noFill/>
          <a:ln/>
        </p:spPr>
        <p:txBody>
          <a:bodyPr wrap="square" lIns="0" tIns="0" rIns="0" bIns="0" rtlCol="0" anchor="ctr"/>
          <a:lstStyle/>
          <a:p>
            <a:pPr marL="0" indent="0">
              <a:buNone/>
            </a:pPr>
            <a:r>
              <a:rPr lang="en-US" sz="1800" b="1" dirty="0">
                <a:solidFill>
                  <a:schemeClr val="tx2"/>
                </a:solidFill>
              </a:rPr>
              <a:t>Limitations</a:t>
            </a:r>
            <a:endParaRPr lang="en-US" sz="1800" dirty="0"/>
          </a:p>
        </p:txBody>
      </p:sp>
      <p:sp>
        <p:nvSpPr>
          <p:cNvPr id="7" name="Text 4"/>
          <p:cNvSpPr txBox="1"/>
          <p:nvPr/>
        </p:nvSpPr>
        <p:spPr>
          <a:xfrm>
            <a:off x="640080" y="1965960"/>
            <a:ext cx="361188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DS1307 written as a platform driver instead of the usual i2c_driver</a:t>
            </a:r>
            <a:endParaRPr lang="en-US" sz="1400" dirty="0"/>
          </a:p>
          <a:p>
            <a:pPr marL="342900" indent="-342900">
              <a:spcAft>
                <a:spcPts val="800"/>
              </a:spcAft>
              <a:buSzPct val="100000"/>
              <a:buChar char="•"/>
            </a:pPr>
            <a:r>
              <a:rPr lang="en-US" sz="1400" dirty="0">
                <a:solidFill>
                  <a:schemeClr val="tx1"/>
                </a:solidFill>
              </a:rPr>
              <a:t>Latency measured only on an idle Pi</a:t>
            </a:r>
            <a:endParaRPr lang="en-US" sz="1400" dirty="0"/>
          </a:p>
          <a:p>
            <a:pPr marL="342900" indent="-342900">
              <a:spcAft>
                <a:spcPts val="800"/>
              </a:spcAft>
              <a:buSzPct val="100000"/>
              <a:buChar char="•"/>
            </a:pPr>
            <a:r>
              <a:rPr lang="en-US" sz="1400" dirty="0">
                <a:solidFill>
                  <a:schemeClr val="tx1"/>
                </a:solidFill>
              </a:rPr>
              <a:t>PWM channel 2 registered but not tested on a pin</a:t>
            </a:r>
            <a:endParaRPr lang="en-US" sz="1400" dirty="0"/>
          </a:p>
          <a:p>
            <a:pPr marL="342900" indent="-342900">
              <a:spcAft>
                <a:spcPts val="800"/>
              </a:spcAft>
              <a:buSzPct val="100000"/>
              <a:buChar char="•"/>
            </a:pPr>
            <a:r>
              <a:rPr lang="en-US" sz="1400" dirty="0">
                <a:solidFill>
                  <a:schemeClr val="tx1"/>
                </a:solidFill>
              </a:rPr>
              <a:t>No suspend/resume support</a:t>
            </a:r>
            <a:endParaRPr lang="en-US" sz="1400" dirty="0"/>
          </a:p>
        </p:txBody>
      </p:sp>
      <p:sp>
        <p:nvSpPr>
          <p:cNvPr id="8" name="future card"/>
          <p:cNvSpPr/>
          <p:nvPr/>
        </p:nvSpPr>
        <p:spPr>
          <a:xfrm>
            <a:off x="4709160" y="1097280"/>
            <a:ext cx="3977640" cy="2926080"/>
          </a:xfrm>
          <a:prstGeom prst="roundRect">
            <a:avLst>
              <a:gd name="adj" fmla="val 25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9" name="future circle"/>
          <p:cNvSpPr/>
          <p:nvPr/>
        </p:nvSpPr>
        <p:spPr>
          <a:xfrm>
            <a:off x="4892040" y="1280160"/>
            <a:ext cx="502920" cy="502920"/>
          </a:xfrm>
          <a:prstGeom prst="ellipse">
            <a:avLst/>
          </a:prstGeom>
          <a:solidFill>
            <a:schemeClr val="accent2"/>
          </a:solidFill>
          <a:ln w="12700">
            <a:solidFill>
              <a:schemeClr val="accent2"/>
            </a:solidFill>
            <a:prstDash val="solid"/>
          </a:ln>
        </p:spPr>
      </p:sp>
      <p:pic>
        <p:nvPicPr>
          <p:cNvPr id="10" name="future icon" descr="preencoded.png"/>
          <p:cNvPicPr>
            <a:picLocks noChangeAspect="1"/>
          </p:cNvPicPr>
          <p:nvPr/>
        </p:nvPicPr>
        <p:blipFill>
          <a:blip r:embed="rId4"/>
          <a:stretch>
            <a:fillRect/>
          </a:stretch>
        </p:blipFill>
        <p:spPr>
          <a:xfrm>
            <a:off x="5017770" y="1405890"/>
            <a:ext cx="251460" cy="251460"/>
          </a:xfrm>
          <a:prstGeom prst="rect">
            <a:avLst/>
          </a:prstGeom>
        </p:spPr>
      </p:pic>
      <p:sp>
        <p:nvSpPr>
          <p:cNvPr id="11" name="Text 7"/>
          <p:cNvSpPr txBox="1"/>
          <p:nvPr/>
        </p:nvSpPr>
        <p:spPr>
          <a:xfrm>
            <a:off x="5532120" y="1325880"/>
            <a:ext cx="2926080" cy="411480"/>
          </a:xfrm>
          <a:prstGeom prst="rect">
            <a:avLst/>
          </a:prstGeom>
          <a:noFill/>
          <a:ln/>
        </p:spPr>
        <p:txBody>
          <a:bodyPr wrap="square" lIns="0" tIns="0" rIns="0" bIns="0" rtlCol="0" anchor="ctr"/>
          <a:lstStyle/>
          <a:p>
            <a:pPr marL="0" indent="0">
              <a:buNone/>
            </a:pPr>
            <a:r>
              <a:rPr lang="en-US" sz="1800" b="1" dirty="0">
                <a:solidFill>
                  <a:schemeClr val="tx2"/>
                </a:solidFill>
              </a:rPr>
              <a:t>Future work</a:t>
            </a:r>
            <a:endParaRPr lang="en-US" sz="1800" dirty="0"/>
          </a:p>
        </p:txBody>
      </p:sp>
      <p:sp>
        <p:nvSpPr>
          <p:cNvPr id="12" name="Text 8"/>
          <p:cNvSpPr txBox="1"/>
          <p:nvPr/>
        </p:nvSpPr>
        <p:spPr>
          <a:xfrm>
            <a:off x="4892040" y="1965960"/>
            <a:ext cx="361188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Add power management and measure latency under load</a:t>
            </a:r>
            <a:endParaRPr lang="en-US" sz="1400" dirty="0"/>
          </a:p>
          <a:p>
            <a:pPr marL="342900" indent="-342900">
              <a:spcAft>
                <a:spcPts val="800"/>
              </a:spcAft>
              <a:buSzPct val="100000"/>
              <a:buChar char="•"/>
            </a:pPr>
            <a:r>
              <a:rPr lang="en-US" sz="1400" dirty="0">
                <a:solidFill>
                  <a:schemeClr val="tx1"/>
                </a:solidFill>
              </a:rPr>
              <a:t>Drive a servo or motor with both PWM channels</a:t>
            </a:r>
            <a:endParaRPr lang="en-US" sz="1400" dirty="0"/>
          </a:p>
          <a:p>
            <a:pPr marL="342900" indent="-342900">
              <a:spcAft>
                <a:spcPts val="800"/>
              </a:spcAft>
              <a:buSzPct val="100000"/>
              <a:buChar char="•"/>
            </a:pPr>
            <a:r>
              <a:rPr lang="en-US" sz="1400" dirty="0">
                <a:solidFill>
                  <a:schemeClr val="tx1"/>
                </a:solidFill>
              </a:rPr>
              <a:t>Compare with an i2c_driver version, or move to a DS3231 with alarms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Conclusion</a:t>
            </a:r>
            <a:endParaRPr lang="en-US" sz="2800" dirty="0"/>
          </a:p>
        </p:txBody>
      </p:sp>
      <p:sp>
        <p:nvSpPr>
          <p:cNvPr id="3" name="conclusion 0"/>
          <p:cNvSpPr/>
          <p:nvPr/>
        </p:nvSpPr>
        <p:spPr>
          <a:xfrm>
            <a:off x="457200" y="114300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concl0 circle"/>
          <p:cNvSpPr/>
          <p:nvPr/>
        </p:nvSpPr>
        <p:spPr>
          <a:xfrm>
            <a:off x="640080" y="1325880"/>
            <a:ext cx="548640" cy="548640"/>
          </a:xfrm>
          <a:prstGeom prst="ellipse">
            <a:avLst/>
          </a:prstGeom>
          <a:solidFill>
            <a:schemeClr val="accent3"/>
          </a:solidFill>
          <a:ln w="12700">
            <a:solidFill>
              <a:schemeClr val="accent3"/>
            </a:solidFill>
            <a:prstDash val="solid"/>
          </a:ln>
        </p:spPr>
      </p:sp>
      <p:pic>
        <p:nvPicPr>
          <p:cNvPr id="5" name="concl0 icon" descr="preencoded.png"/>
          <p:cNvPicPr>
            <a:picLocks noChangeAspect="1"/>
          </p:cNvPicPr>
          <p:nvPr/>
        </p:nvPicPr>
        <p:blipFill>
          <a:blip r:embed="rId3"/>
          <a:stretch>
            <a:fillRect/>
          </a:stretch>
        </p:blipFill>
        <p:spPr>
          <a:xfrm>
            <a:off x="777240" y="1463040"/>
            <a:ext cx="274320" cy="274320"/>
          </a:xfrm>
          <a:prstGeom prst="rect">
            <a:avLst/>
          </a:prstGeom>
        </p:spPr>
      </p:pic>
      <p:sp>
        <p:nvSpPr>
          <p:cNvPr id="6" name="Text 3"/>
          <p:cNvSpPr txBox="1"/>
          <p:nvPr/>
        </p:nvSpPr>
        <p:spPr>
          <a:xfrm>
            <a:off x="1417320" y="1261872"/>
            <a:ext cx="7040880" cy="347472"/>
          </a:xfrm>
          <a:prstGeom prst="rect">
            <a:avLst/>
          </a:prstGeom>
          <a:noFill/>
          <a:ln/>
        </p:spPr>
        <p:txBody>
          <a:bodyPr wrap="square" lIns="0" tIns="0" rIns="0" bIns="0" rtlCol="0" anchor="t"/>
          <a:lstStyle/>
          <a:p>
            <a:pPr marL="0" indent="0">
              <a:buNone/>
            </a:pPr>
            <a:r>
              <a:rPr lang="en-US" sz="1600" b="1" dirty="0">
                <a:solidFill>
                  <a:schemeClr val="tx2"/>
                </a:solidFill>
              </a:rPr>
              <a:t>Device Tree separates hardware from code</a:t>
            </a:r>
            <a:endParaRPr lang="en-US" sz="1600" dirty="0"/>
          </a:p>
        </p:txBody>
      </p:sp>
      <p:sp>
        <p:nvSpPr>
          <p:cNvPr id="7" name="Text 4"/>
          <p:cNvSpPr txBox="1"/>
          <p:nvPr/>
        </p:nvSpPr>
        <p:spPr>
          <a:xfrm>
            <a:off x="1417320" y="161848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The same .ko runs on another pin or board by editing only the overlay</a:t>
            </a:r>
            <a:endParaRPr lang="en-US" sz="1300" dirty="0"/>
          </a:p>
        </p:txBody>
      </p:sp>
      <p:sp>
        <p:nvSpPr>
          <p:cNvPr id="8" name="conclusion 1"/>
          <p:cNvSpPr/>
          <p:nvPr/>
        </p:nvSpPr>
        <p:spPr>
          <a:xfrm>
            <a:off x="457200" y="224028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9" name="concl1 circle"/>
          <p:cNvSpPr/>
          <p:nvPr/>
        </p:nvSpPr>
        <p:spPr>
          <a:xfrm>
            <a:off x="640080" y="2423160"/>
            <a:ext cx="548640" cy="548640"/>
          </a:xfrm>
          <a:prstGeom prst="ellipse">
            <a:avLst/>
          </a:prstGeom>
          <a:solidFill>
            <a:schemeClr val="accent2"/>
          </a:solidFill>
          <a:ln w="12700">
            <a:solidFill>
              <a:schemeClr val="accent2"/>
            </a:solidFill>
            <a:prstDash val="solid"/>
          </a:ln>
        </p:spPr>
      </p:sp>
      <p:pic>
        <p:nvPicPr>
          <p:cNvPr id="10" name="concl1 icon" descr="preencoded.png"/>
          <p:cNvPicPr>
            <a:picLocks noChangeAspect="1"/>
          </p:cNvPicPr>
          <p:nvPr/>
        </p:nvPicPr>
        <p:blipFill>
          <a:blip r:embed="rId4"/>
          <a:stretch>
            <a:fillRect/>
          </a:stretch>
        </p:blipFill>
        <p:spPr>
          <a:xfrm>
            <a:off x="777240" y="2560320"/>
            <a:ext cx="274320" cy="274320"/>
          </a:xfrm>
          <a:prstGeom prst="rect">
            <a:avLst/>
          </a:prstGeom>
        </p:spPr>
      </p:pic>
      <p:sp>
        <p:nvSpPr>
          <p:cNvPr id="11" name="Text 7"/>
          <p:cNvSpPr txBox="1"/>
          <p:nvPr/>
        </p:nvSpPr>
        <p:spPr>
          <a:xfrm>
            <a:off x="1417320" y="2359152"/>
            <a:ext cx="7040880" cy="347472"/>
          </a:xfrm>
          <a:prstGeom prst="rect">
            <a:avLst/>
          </a:prstGeom>
          <a:noFill/>
          <a:ln/>
        </p:spPr>
        <p:txBody>
          <a:bodyPr wrap="square" lIns="0" tIns="0" rIns="0" bIns="0" rtlCol="0" anchor="t"/>
          <a:lstStyle/>
          <a:p>
            <a:pPr marL="0" indent="0">
              <a:buNone/>
            </a:pPr>
            <a:r>
              <a:rPr lang="en-US" sz="1600" b="1" dirty="0">
                <a:solidFill>
                  <a:schemeClr val="tx2"/>
                </a:solidFill>
              </a:rPr>
              <a:t>Three working drivers on real hardware</a:t>
            </a:r>
            <a:endParaRPr lang="en-US" sz="1600" dirty="0"/>
          </a:p>
        </p:txBody>
      </p:sp>
      <p:sp>
        <p:nvSpPr>
          <p:cNvPr id="12" name="Text 8"/>
          <p:cNvSpPr txBox="1"/>
          <p:nvPr/>
        </p:nvSpPr>
        <p:spPr>
          <a:xfrm>
            <a:off x="1417320" y="271576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Timer, PWM and RTC built natively and verified with 25 tests</a:t>
            </a:r>
            <a:endParaRPr lang="en-US" sz="1300" dirty="0"/>
          </a:p>
        </p:txBody>
      </p:sp>
      <p:sp>
        <p:nvSpPr>
          <p:cNvPr id="13" name="conclusion 2"/>
          <p:cNvSpPr/>
          <p:nvPr/>
        </p:nvSpPr>
        <p:spPr>
          <a:xfrm>
            <a:off x="457200" y="333756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4" name="concl2 circle"/>
          <p:cNvSpPr/>
          <p:nvPr/>
        </p:nvSpPr>
        <p:spPr>
          <a:xfrm>
            <a:off x="640080" y="3520440"/>
            <a:ext cx="548640" cy="548640"/>
          </a:xfrm>
          <a:prstGeom prst="ellipse">
            <a:avLst/>
          </a:prstGeom>
          <a:solidFill>
            <a:schemeClr val="accent1"/>
          </a:solidFill>
          <a:ln w="12700">
            <a:solidFill>
              <a:schemeClr val="accent1"/>
            </a:solidFill>
            <a:prstDash val="solid"/>
          </a:ln>
        </p:spPr>
      </p:sp>
      <p:pic>
        <p:nvPicPr>
          <p:cNvPr id="15" name="concl2 icon" descr="preencoded.png"/>
          <p:cNvPicPr>
            <a:picLocks noChangeAspect="1"/>
          </p:cNvPicPr>
          <p:nvPr/>
        </p:nvPicPr>
        <p:blipFill>
          <a:blip r:embed="rId5"/>
          <a:stretch>
            <a:fillRect/>
          </a:stretch>
        </p:blipFill>
        <p:spPr>
          <a:xfrm>
            <a:off x="777240" y="3657600"/>
            <a:ext cx="274320" cy="274320"/>
          </a:xfrm>
          <a:prstGeom prst="rect">
            <a:avLst/>
          </a:prstGeom>
        </p:spPr>
      </p:pic>
      <p:sp>
        <p:nvSpPr>
          <p:cNvPr id="16" name="Text 11"/>
          <p:cNvSpPr txBox="1"/>
          <p:nvPr/>
        </p:nvSpPr>
        <p:spPr>
          <a:xfrm>
            <a:off x="1417320" y="3456432"/>
            <a:ext cx="7040880" cy="347472"/>
          </a:xfrm>
          <a:prstGeom prst="rect">
            <a:avLst/>
          </a:prstGeom>
          <a:noFill/>
          <a:ln/>
        </p:spPr>
        <p:txBody>
          <a:bodyPr wrap="square" lIns="0" tIns="0" rIns="0" bIns="0" rtlCol="0" anchor="t"/>
          <a:lstStyle/>
          <a:p>
            <a:pPr marL="0" indent="0">
              <a:buNone/>
            </a:pPr>
            <a:r>
              <a:rPr lang="en-US" sz="1600" b="1" dirty="0">
                <a:solidFill>
                  <a:schemeClr val="tx2"/>
                </a:solidFill>
              </a:rPr>
              <a:t>A repeatable process</a:t>
            </a:r>
            <a:endParaRPr lang="en-US" sz="1600" dirty="0"/>
          </a:p>
        </p:txBody>
      </p:sp>
      <p:sp>
        <p:nvSpPr>
          <p:cNvPr id="17" name="Text 12"/>
          <p:cNvSpPr txBox="1"/>
          <p:nvPr/>
        </p:nvSpPr>
        <p:spPr>
          <a:xfrm>
            <a:off x="1417320" y="381304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Installation, compilation, loading, testing and troubleshooting documented step by step</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11480"/>
            <a:ext cx="8229600" cy="731520"/>
          </a:xfrm>
          <a:prstGeom prst="rect">
            <a:avLst/>
          </a:prstGeom>
          <a:noFill/>
          <a:ln/>
        </p:spPr>
        <p:txBody>
          <a:bodyPr wrap="square" lIns="0" tIns="0" rIns="0" bIns="0" rtlCol="0" anchor="ctr"/>
          <a:lstStyle/>
          <a:p>
            <a:pPr marL="0" indent="0" algn="l">
              <a:buNone/>
            </a:pPr>
            <a:r>
              <a:rPr lang="en-US" sz="3200" b="1" dirty="0">
                <a:solidFill>
                  <a:schemeClr val="bg1"/>
                </a:solidFill>
              </a:rPr>
              <a:t>Thank you for listening</a:t>
            </a:r>
            <a:endParaRPr lang="en-US" sz="3200" dirty="0"/>
          </a:p>
        </p:txBody>
      </p:sp>
      <p:sp>
        <p:nvSpPr>
          <p:cNvPr id="3" name="Text 1"/>
          <p:cNvSpPr txBox="1"/>
          <p:nvPr/>
        </p:nvSpPr>
        <p:spPr>
          <a:xfrm>
            <a:off x="457200" y="1143000"/>
            <a:ext cx="8229600" cy="365760"/>
          </a:xfrm>
          <a:prstGeom prst="rect">
            <a:avLst/>
          </a:prstGeom>
          <a:noFill/>
          <a:ln/>
        </p:spPr>
        <p:txBody>
          <a:bodyPr wrap="square" lIns="0" tIns="0" rIns="0" bIns="0" rtlCol="0" anchor="t"/>
          <a:lstStyle/>
          <a:p>
            <a:pPr marL="0" indent="0">
              <a:buNone/>
            </a:pPr>
            <a:r>
              <a:rPr lang="en-US" sz="1800" dirty="0">
                <a:solidFill>
                  <a:schemeClr val="accent6"/>
                </a:solidFill>
              </a:rPr>
              <a:t>Questions and answers</a:t>
            </a:r>
            <a:endParaRPr lang="en-US" sz="1800" dirty="0"/>
          </a:p>
        </p:txBody>
      </p:sp>
      <p:sp>
        <p:nvSpPr>
          <p:cNvPr id="4" name="github box"/>
          <p:cNvSpPr/>
          <p:nvPr/>
        </p:nvSpPr>
        <p:spPr>
          <a:xfrm>
            <a:off x="457200" y="1874520"/>
            <a:ext cx="8229600" cy="1280160"/>
          </a:xfrm>
          <a:prstGeom prst="roundRect">
            <a:avLst>
              <a:gd name="adj" fmla="val 5714"/>
            </a:avLst>
          </a:prstGeom>
          <a:solidFill>
            <a:srgbClr val="2B3D4F"/>
          </a:solidFill>
          <a:ln w="12700">
            <a:solidFill>
              <a:srgbClr val="2B3D4F"/>
            </a:solidFill>
            <a:prstDash val="solid"/>
          </a:ln>
        </p:spPr>
      </p:sp>
      <p:pic>
        <p:nvPicPr>
          <p:cNvPr id="5" name="github icon" descr="preencoded.png"/>
          <p:cNvPicPr>
            <a:picLocks noChangeAspect="1"/>
          </p:cNvPicPr>
          <p:nvPr/>
        </p:nvPicPr>
        <p:blipFill>
          <a:blip r:embed="rId3"/>
          <a:stretch>
            <a:fillRect/>
          </a:stretch>
        </p:blipFill>
        <p:spPr>
          <a:xfrm>
            <a:off x="731520" y="2148840"/>
            <a:ext cx="731520" cy="731520"/>
          </a:xfrm>
          <a:prstGeom prst="rect">
            <a:avLst/>
          </a:prstGeom>
        </p:spPr>
      </p:pic>
      <p:sp>
        <p:nvSpPr>
          <p:cNvPr id="6" name="Text 3"/>
          <p:cNvSpPr txBox="1"/>
          <p:nvPr/>
        </p:nvSpPr>
        <p:spPr>
          <a:xfrm>
            <a:off x="1691640" y="2057400"/>
            <a:ext cx="6812280" cy="914400"/>
          </a:xfrm>
          <a:prstGeom prst="rect">
            <a:avLst/>
          </a:prstGeom>
          <a:noFill/>
          <a:ln/>
        </p:spPr>
        <p:txBody>
          <a:bodyPr wrap="square" lIns="0" tIns="0" rIns="0" bIns="0" rtlCol="0" anchor="ctr"/>
          <a:lstStyle/>
          <a:p>
            <a:pPr marL="0" indent="0">
              <a:spcAft>
                <a:spcPts val="600"/>
              </a:spcAft>
              <a:buNone/>
            </a:pPr>
            <a:r>
              <a:rPr lang="en-US" sz="1600" b="1" dirty="0">
                <a:solidFill>
                  <a:schemeClr val="bg1"/>
                </a:solidFill>
              </a:rPr>
              <a:t>Source code, demo videos and documents</a:t>
            </a:r>
            <a:endParaRPr lang="en-US" sz="1600" dirty="0"/>
          </a:p>
          <a:p>
            <a:pPr marL="0" indent="0">
              <a:spcAft>
                <a:spcPts val="600"/>
              </a:spcAft>
              <a:buNone/>
            </a:pPr>
            <a:r>
              <a:rPr lang="en-US" sz="1600" dirty="0">
                <a:solidFill>
                  <a:schemeClr val="accent6"/>
                </a:solidFill>
              </a:rPr>
              <a:t>GitHub: </a:t>
            </a:r>
            <a:r>
              <a:rPr lang="en-US" sz="1600" b="1" dirty="0">
                <a:solidFill>
                  <a:schemeClr val="bg1"/>
                </a:solidFill>
              </a:rPr>
              <a:t>https://github.com/Tun-afk/Embedded-System</a:t>
            </a:r>
            <a:endParaRPr lang="en-US" sz="1600" dirty="0"/>
          </a:p>
        </p:txBody>
      </p:sp>
      <p:sp>
        <p:nvSpPr>
          <p:cNvPr id="7" name="Text 4"/>
          <p:cNvSpPr txBox="1"/>
          <p:nvPr/>
        </p:nvSpPr>
        <p:spPr>
          <a:xfrm>
            <a:off x="457200" y="3566160"/>
            <a:ext cx="8229600" cy="365760"/>
          </a:xfrm>
          <a:prstGeom prst="rect">
            <a:avLst/>
          </a:prstGeom>
          <a:noFill/>
          <a:ln/>
        </p:spPr>
        <p:txBody>
          <a:bodyPr wrap="square" lIns="0" tIns="0" rIns="0" bIns="0" rtlCol="0" anchor="t"/>
          <a:lstStyle/>
          <a:p>
            <a:pPr marL="0" indent="0">
              <a:buNone/>
            </a:pPr>
            <a:r>
              <a:rPr lang="en-US" sz="1400" dirty="0">
                <a:solidFill>
                  <a:schemeClr val="bg1"/>
                </a:solidFill>
              </a:rPr>
              <a:t>Group 6  ·  Võ Trần Đăng Khoa  ·  Phạm Trần Huy Hoàng  ·  Huỳnh Anh Tuấn</a:t>
            </a:r>
            <a:endParaRPr lang="en-US" sz="1400" dirty="0"/>
          </a:p>
        </p:txBody>
      </p:sp>
      <p:sp>
        <p:nvSpPr>
          <p:cNvPr id="8" name="Text 5"/>
          <p:cNvSpPr txBox="1"/>
          <p:nvPr/>
        </p:nvSpPr>
        <p:spPr>
          <a:xfrm>
            <a:off x="457200" y="3931920"/>
            <a:ext cx="8229600" cy="365760"/>
          </a:xfrm>
          <a:prstGeom prst="rect">
            <a:avLst/>
          </a:prstGeom>
          <a:noFill/>
          <a:ln/>
        </p:spPr>
        <p:txBody>
          <a:bodyPr wrap="square" lIns="0" tIns="0" rIns="0" bIns="0" rtlCol="0" anchor="t"/>
          <a:lstStyle/>
          <a:p>
            <a:pPr marL="0" indent="0">
              <a:buNone/>
            </a:pPr>
            <a:r>
              <a:rPr lang="en-US" sz="1300" dirty="0">
                <a:solidFill>
                  <a:schemeClr val="accent6"/>
                </a:solidFill>
              </a:rPr>
              <a:t>Embedded System Design  ·  Lecturer: Huỳnh Hoàng Hà</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Raspberry Embedded">
  <a:themeElements>
    <a:clrScheme name="Raspberry Embedded">
      <a:dk1>
        <a:srgbClr val="1E2329"/>
      </a:dk1>
      <a:lt1>
        <a:srgbClr val="FFFFFF"/>
      </a:lt1>
      <a:dk2>
        <a:srgbClr val="1F2D3A"/>
      </a:dk2>
      <a:lt2>
        <a:srgbClr val="EEF2F5"/>
      </a:lt2>
      <a:accent1>
        <a:srgbClr val="C51A4A"/>
      </a:accent1>
      <a:accent2>
        <a:srgbClr val="5E9A2A"/>
      </a:accent2>
      <a:accent3>
        <a:srgbClr val="2878A8"/>
      </a:accent3>
      <a:accent4>
        <a:srgbClr val="E39B2D"/>
      </a:accent4>
      <a:accent5>
        <a:srgbClr val="5B6770"/>
      </a:accent5>
      <a:accent6>
        <a:srgbClr val="C9D3DC"/>
      </a:accent6>
      <a:hlink>
        <a:srgbClr val="2878A8"/>
      </a:hlink>
      <a:folHlink>
        <a:srgbClr val="5B6770"/>
      </a:folHlink>
    </a:clrScheme>
    <a:fontScheme name="Raspberry Embedd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1988</Words>
  <Application>Microsoft Office PowerPoint</Application>
  <PresentationFormat>On-screen Show (16:9)</PresentationFormat>
  <Paragraphs>263</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Raspberry Embedded</vt:lpstr>
      <vt:lpstr>Building Device Drivers on Linux</vt:lpstr>
      <vt:lpstr>Three drivers, one model</vt:lpstr>
      <vt:lpstr>Why a platform driver with Device Tree</vt:lpstr>
      <vt:lpstr>How the Makefile, overlay and C file meet</vt:lpstr>
      <vt:lpstr>What runs first: probe() → callbacks → remove()</vt:lpstr>
      <vt:lpstr>Hardware setup</vt:lpstr>
      <vt:lpstr>Installation and compilation workflow</vt:lpstr>
      <vt:lpstr>Timer driver: System Timer channel 1</vt:lpstr>
      <vt:lpstr>Timer tests on the Pi: 7 of 7 passed</vt:lpstr>
      <vt:lpstr>PWM driver: replacing pwm-bcm2835</vt:lpstr>
      <vt:lpstr>RTC driver: DS1307 over I2C1</vt:lpstr>
      <vt:lpstr>RTC power-loss test: time kept by the CR2032</vt:lpstr>
      <vt:lpstr>All 25 planned tests passed</vt:lpstr>
      <vt:lpstr>Demonstration videos</vt:lpstr>
      <vt:lpstr>Limitations and future work</vt:lpstr>
      <vt:lpstr>Conclusion</vt:lpstr>
      <vt:lpstr>Thank you for listening</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Device Drivers on Linux – Platform Drivers (Group 6)</dc:title>
  <dc:subject>PptxGenJS Presentation</dc:subject>
  <dc:creator>Group 6</dc:creator>
  <cp:lastModifiedBy>Tuấn Huỳnh</cp:lastModifiedBy>
  <cp:revision>3</cp:revision>
  <dcterms:created xsi:type="dcterms:W3CDTF">2026-10-28T04:40:18Z</dcterms:created>
  <dcterms:modified xsi:type="dcterms:W3CDTF">2026-10-28T05:52:45Z</dcterms:modified>
</cp:coreProperties>
</file>